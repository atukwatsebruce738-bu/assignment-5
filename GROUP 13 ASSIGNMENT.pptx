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9FAD-5548-41D0-BDD3-6F74864AD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89DCC-F2D5-4C8D-ABFC-A92224EA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64E84-B618-4C2F-9B5C-7C9A8A66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9083F-5C52-439B-BA2B-D65A4CFE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10508-D237-408B-9FB5-0CCAF68B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4531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EA0F-AAEA-4894-83EC-4B90823F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B029C-6F75-4480-AA67-86243DFEF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94C1A-D54B-4695-9483-428D8613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44061-EAFF-4CBA-91B8-76B820167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FFDB-5A7D-4649-A053-4FEBFA89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73221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201E-F98D-4835-B696-9F22779BB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A70FF-CBB9-4CFB-97CD-D9EB12569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39CD9-609B-4F15-B600-F51E969F8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FC2E6-5ACA-4B51-86AC-83349B98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A7AC7-E67A-4BE1-A24C-D8EFC1033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40883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5F820-6F31-415C-A86B-C8BABDDC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2C558-0FE4-4E63-BBD9-C1079D07E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D32CF-FE50-4888-8A10-575FCC045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43E45-2818-41C4-8375-96F81C716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F7D85-FFC7-40D7-B083-A34AF265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65EA0-2365-4B2F-8CEA-CDC93302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23356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8F499-A37C-4118-8721-9B9313C99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5BF94-0636-4D6A-A47F-066E1FB3E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FDF59-7422-4364-B049-906479F67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585E8-DEC7-41C7-BF20-4951C3F19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5954E5-8445-48A3-A45A-D70AD0742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5F949-521D-4D8C-900D-630BC568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240121-C88E-452C-A31D-4D14EBE6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F53D9-D46F-43AC-B4FC-1C757EFA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4600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A587-9AF7-4EB7-999B-65DB4A5EB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9C58F-1940-469A-85A6-67C5AA61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D1A71-B7B7-40F7-9826-159F4348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3EE5A-C9B0-4CD3-9A5E-3FFF6BF3E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41386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A48CE-AC83-4815-B265-88D183481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CF819-3400-430E-B712-2E8CC33CF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8EC08-D944-4DC9-ADFD-0FEED4366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4890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88CB-9EB5-4D73-8021-6D5177AB8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1C7E0-E090-4C72-ABDA-9150B2093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F7926-F6CD-4659-8AC2-2208B5940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BAC62-91FC-4212-A5D1-B074754F8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28A32-BDE1-4DDF-AE62-9644093D2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E9B4D-B38F-45BF-8753-4DBD1D6A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4852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040D-78B1-4BAC-9750-02811A9A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412B5A-C44E-4C37-8B9B-62AF82A27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06E81-8E7F-44ED-BB68-4DB6A3029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CFF88-3794-4B07-B0EB-A312E81CF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E6321-8A57-43B1-9251-46E1855EC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D4958-07BF-4716-AB5E-102A841D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1387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C5EF-C041-414B-8B73-154190802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85E45-0F2C-445F-823B-6DF287900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D9D60-61C0-4FD4-BB96-8341E345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4B752-56F6-493B-8BC5-55896D7C3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5303-B8A0-475C-91CC-FA02E667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831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7719CA-3E5B-434A-B499-363EF4032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CD825-01AF-413D-8804-40BFD13B5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8D587-A3F2-4504-8BBE-9FE0FAA0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2EF7A-832F-4B24-9EE4-62B8B0CD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5BBBD-AB5B-47AF-9A88-9D1F8CB3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51472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99C6C-B370-4B3C-B8C4-BC5ACCC3E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CCC9B-F338-4634-B6F4-D62A3491D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1032A-2D99-4093-BC9E-FB231FAB7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33474-8699-47EC-861F-98F87F8C44A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58FD6-4EA5-40E6-88FB-8CE35EDF9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CFF4A-16F6-412C-B979-A5694BD93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B69D7-0E89-43C3-8D13-461E1DE2F56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0363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4A98-FAB7-4CC8-8F36-99F479CC7F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4D4C9-2E39-4CE9-B6CE-7CD5DBB8F1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518593-D6DC-4F13-AC17-371C7FE714A2}"/>
              </a:ext>
            </a:extLst>
          </p:cNvPr>
          <p:cNvPicPr>
            <a:picLocks/>
          </p:cNvPicPr>
          <p:nvPr/>
        </p:nvPicPr>
        <p:blipFill>
          <a:blip r:embed="rId2" cstate="print"/>
          <a:srcRect/>
          <a:stretch/>
        </p:blipFill>
        <p:spPr>
          <a:xfrm>
            <a:off x="1524000" y="1316038"/>
            <a:ext cx="9144000" cy="200025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11CB82-C1A0-432A-B18D-823297654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652771"/>
              </p:ext>
            </p:extLst>
          </p:nvPr>
        </p:nvGraphicFramePr>
        <p:xfrm>
          <a:off x="1524000" y="3631406"/>
          <a:ext cx="9144000" cy="16557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75824911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21579823"/>
                    </a:ext>
                  </a:extLst>
                </a:gridCol>
              </a:tblGrid>
              <a:tr h="331152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NAME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REG NO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6378311"/>
                  </a:ext>
                </a:extLst>
              </a:tr>
              <a:tr h="264922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KYESIMIRA THEODORE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BU/UG/2025/4441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6038065"/>
                  </a:ext>
                </a:extLst>
              </a:tr>
              <a:tr h="264922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ATUKWATSE BRUCE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BU/UP/2025/2108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6765016"/>
                  </a:ext>
                </a:extLst>
              </a:tr>
              <a:tr h="264922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AINEMBABAZI MERCY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BU/UP/2025/3248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0672634"/>
                  </a:ext>
                </a:extLst>
              </a:tr>
              <a:tr h="264922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MUWAYIRE GASTER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BU/UG/2025/4444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3769602"/>
                  </a:ext>
                </a:extLst>
              </a:tr>
              <a:tr h="264922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AKWIR MERCY LEAH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BU/UP/2025/1532</a:t>
                      </a:r>
                      <a:endParaRPr lang="en-UG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9956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889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59AC99-BD1C-499F-9963-2D8D7EE0D94E}"/>
              </a:ext>
            </a:extLst>
          </p:cNvPr>
          <p:cNvSpPr txBox="1"/>
          <p:nvPr/>
        </p:nvSpPr>
        <p:spPr>
          <a:xfrm>
            <a:off x="0" y="63976"/>
            <a:ext cx="12191999" cy="610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800"/>
              </a:spcAft>
            </a:pPr>
            <a:r>
              <a:rPr lang="en-UG" sz="2800" b="1" kern="0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1" kern="0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1.</a:t>
            </a:r>
            <a:r>
              <a:rPr lang="en-UG" sz="2800" b="1" kern="0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Newton-Raphson Method</a:t>
            </a:r>
          </a:p>
          <a:p>
            <a:pPr>
              <a:spcBef>
                <a:spcPts val="1300"/>
              </a:spcBef>
              <a:spcAft>
                <a:spcPts val="600"/>
              </a:spcAft>
            </a:pPr>
            <a:r>
              <a:rPr lang="en-UG" sz="24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 Problem Statement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Find the root of the equation f(x) = x² - 4 = 0 using the Newton-Raphson method, starting from an initial guess x₀ = 3, correct to a tolerance of 0.0001.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G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xₙ₊₁ = xₙ - f(xₙ) / f'(xₙ)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Here f(x) = x² - 4 and f'(x) = 2x. The exact root is x = 2.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300"/>
              </a:spcBef>
              <a:spcAft>
                <a:spcPts val="600"/>
              </a:spcAft>
            </a:pPr>
            <a:r>
              <a:rPr lang="en-UG" sz="24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 Pseudo code</a:t>
            </a: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Start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Read initial guess x0, tolerance e, and maximum iterations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Define f(x) and f'(x)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Repeat: compute x1 = x0 - f(x0)/f'(x0)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Compute the error = |x1 - x0|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If |x1 - x0|&lt; e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rror</a:t>
            </a: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the root has been found: display x1 and stop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Otherwise, set x0 = x1 and repeat from step 4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Stop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61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F5E85-3FCE-44C2-BEDA-A8E147C76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180" y="365125"/>
            <a:ext cx="2766060" cy="915035"/>
          </a:xfrm>
        </p:spPr>
        <p:txBody>
          <a:bodyPr>
            <a:normAutofit fontScale="90000"/>
          </a:bodyPr>
          <a:lstStyle/>
          <a:p>
            <a:r>
              <a:rPr lang="en-US" sz="18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				</a:t>
            </a:r>
            <a:r>
              <a:rPr lang="en-UG" sz="18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 Flowchart</a:t>
            </a:r>
            <a:br>
              <a:rPr lang="en-UG" sz="18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C905B-8F08-4238-9EA9-6C9E8AFE0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047"/>
            <a:ext cx="10515600" cy="5010916"/>
          </a:xfrm>
        </p:spPr>
        <p:txBody>
          <a:bodyPr/>
          <a:lstStyle/>
          <a:p>
            <a:endParaRPr lang="en-UG" dirty="0"/>
          </a:p>
        </p:txBody>
      </p:sp>
      <p:grpSp>
        <p:nvGrpSpPr>
          <p:cNvPr id="4" name="Flowchart 900">
            <a:extLst>
              <a:ext uri="{FF2B5EF4-FFF2-40B4-BE49-F238E27FC236}">
                <a16:creationId xmlns:a16="http://schemas.microsoft.com/office/drawing/2014/main" id="{09C179A8-4888-4270-A719-A15EA76BBCF8}"/>
              </a:ext>
            </a:extLst>
          </p:cNvPr>
          <p:cNvGrpSpPr/>
          <p:nvPr/>
        </p:nvGrpSpPr>
        <p:grpSpPr>
          <a:xfrm>
            <a:off x="838200" y="1166047"/>
            <a:ext cx="8305800" cy="5010916"/>
            <a:chOff x="41148" y="41148"/>
            <a:chExt cx="6460236" cy="4526280"/>
          </a:xfrm>
        </p:grpSpPr>
        <p:sp>
          <p:nvSpPr>
            <p:cNvPr id="5" name="Shape 101">
              <a:extLst>
                <a:ext uri="{FF2B5EF4-FFF2-40B4-BE49-F238E27FC236}">
                  <a16:creationId xmlns:a16="http://schemas.microsoft.com/office/drawing/2014/main" id="{534C945F-9755-4D34-8484-B8EBCFCAA4BB}"/>
                </a:ext>
              </a:extLst>
            </p:cNvPr>
            <p:cNvSpPr/>
            <p:nvPr/>
          </p:nvSpPr>
          <p:spPr>
            <a:xfrm>
              <a:off x="3950208" y="41148"/>
              <a:ext cx="1645920" cy="370332"/>
            </a:xfrm>
            <a:prstGeom prst="flowChartTerminator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ctr"/>
              <a:r>
                <a:rPr lang="en-UG" sz="105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lang="en-UG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" name="Shape 102">
              <a:extLst>
                <a:ext uri="{FF2B5EF4-FFF2-40B4-BE49-F238E27FC236}">
                  <a16:creationId xmlns:a16="http://schemas.microsoft.com/office/drawing/2014/main" id="{6ED727E5-6C43-4438-B3F5-E028096E0799}"/>
                </a:ext>
              </a:extLst>
            </p:cNvPr>
            <p:cNvSpPr/>
            <p:nvPr/>
          </p:nvSpPr>
          <p:spPr>
            <a:xfrm>
              <a:off x="3044952" y="617220"/>
              <a:ext cx="3456432" cy="452628"/>
            </a:xfrm>
            <a:prstGeom prst="flowChartProcess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ctr"/>
              <a:r>
                <a:rPr lang="en-UG" sz="105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Input: f(x), f'(x), initial guess x0,  e</a:t>
              </a:r>
              <a:r>
                <a:rPr lang="en-US" sz="105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rror</a:t>
              </a:r>
              <a:endParaRPr lang="en-UG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" name="Shape 103">
              <a:extLst>
                <a:ext uri="{FF2B5EF4-FFF2-40B4-BE49-F238E27FC236}">
                  <a16:creationId xmlns:a16="http://schemas.microsoft.com/office/drawing/2014/main" id="{E30DDA80-7446-4EAC-9F5F-8674C461D632}"/>
                </a:ext>
              </a:extLst>
            </p:cNvPr>
            <p:cNvSpPr/>
            <p:nvPr/>
          </p:nvSpPr>
          <p:spPr>
            <a:xfrm>
              <a:off x="3044952" y="1275588"/>
              <a:ext cx="3456432" cy="452628"/>
            </a:xfrm>
            <a:prstGeom prst="flowChartProcess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ctr"/>
              <a:r>
                <a:rPr lang="en-UG" sz="105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Compute  x1 = x0 - f(x0)/f'(x0)</a:t>
              </a:r>
              <a:endParaRPr lang="en-UG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" name="Shape 104">
              <a:extLst>
                <a:ext uri="{FF2B5EF4-FFF2-40B4-BE49-F238E27FC236}">
                  <a16:creationId xmlns:a16="http://schemas.microsoft.com/office/drawing/2014/main" id="{D310115C-D26D-4349-A593-F8199C8BC5CF}"/>
                </a:ext>
              </a:extLst>
            </p:cNvPr>
            <p:cNvSpPr/>
            <p:nvPr/>
          </p:nvSpPr>
          <p:spPr>
            <a:xfrm>
              <a:off x="3538728" y="1933956"/>
              <a:ext cx="2468880" cy="452628"/>
            </a:xfrm>
            <a:prstGeom prst="flowChartProcess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ctr"/>
              <a:r>
                <a:rPr lang="en-UG" sz="105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Compute error |x1 - x0|</a:t>
              </a:r>
              <a:endParaRPr lang="en-UG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9" name="Shape 105">
              <a:extLst>
                <a:ext uri="{FF2B5EF4-FFF2-40B4-BE49-F238E27FC236}">
                  <a16:creationId xmlns:a16="http://schemas.microsoft.com/office/drawing/2014/main" id="{7A733870-0265-437F-84A7-2AEEF6CBDA11}"/>
                </a:ext>
              </a:extLst>
            </p:cNvPr>
            <p:cNvSpPr/>
            <p:nvPr/>
          </p:nvSpPr>
          <p:spPr>
            <a:xfrm>
              <a:off x="3456432" y="2592324"/>
              <a:ext cx="2633472" cy="781812"/>
            </a:xfrm>
            <a:prstGeom prst="flowChartDecision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ctr"/>
              <a:r>
                <a:rPr lang="en-UG" sz="95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Is |x1 - x0| &lt; e</a:t>
              </a:r>
              <a:r>
                <a:rPr lang="en-US" sz="95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rror</a:t>
              </a:r>
              <a:r>
                <a:rPr lang="en-UG" sz="95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en-UG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" name="Shape 106">
              <a:extLst>
                <a:ext uri="{FF2B5EF4-FFF2-40B4-BE49-F238E27FC236}">
                  <a16:creationId xmlns:a16="http://schemas.microsoft.com/office/drawing/2014/main" id="{A37F834A-0008-4BAB-814D-4099ECB8F0FD}"/>
                </a:ext>
              </a:extLst>
            </p:cNvPr>
            <p:cNvSpPr/>
            <p:nvPr/>
          </p:nvSpPr>
          <p:spPr>
            <a:xfrm>
              <a:off x="41148" y="2777490"/>
              <a:ext cx="1892808" cy="411480"/>
            </a:xfrm>
            <a:prstGeom prst="flowChartProcess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ctr"/>
              <a:r>
                <a:rPr lang="en-UG" sz="95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x0 = x1</a:t>
              </a:r>
              <a:endParaRPr lang="en-UG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" name="Shape 107">
              <a:extLst>
                <a:ext uri="{FF2B5EF4-FFF2-40B4-BE49-F238E27FC236}">
                  <a16:creationId xmlns:a16="http://schemas.microsoft.com/office/drawing/2014/main" id="{F0FB2874-30EA-49DF-8132-0FCDF1ED6725}"/>
                </a:ext>
              </a:extLst>
            </p:cNvPr>
            <p:cNvSpPr/>
            <p:nvPr/>
          </p:nvSpPr>
          <p:spPr>
            <a:xfrm>
              <a:off x="3538728" y="3579876"/>
              <a:ext cx="2468880" cy="411480"/>
            </a:xfrm>
            <a:prstGeom prst="flowChartProcess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ctr"/>
              <a:r>
                <a:rPr lang="en-UG" sz="105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Display root x1</a:t>
              </a:r>
              <a:endParaRPr lang="en-UG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" name="Shape 108">
              <a:extLst>
                <a:ext uri="{FF2B5EF4-FFF2-40B4-BE49-F238E27FC236}">
                  <a16:creationId xmlns:a16="http://schemas.microsoft.com/office/drawing/2014/main" id="{D89E7A67-2C6B-47B9-B107-D4B541A75B45}"/>
                </a:ext>
              </a:extLst>
            </p:cNvPr>
            <p:cNvSpPr/>
            <p:nvPr/>
          </p:nvSpPr>
          <p:spPr>
            <a:xfrm>
              <a:off x="3950208" y="4197096"/>
              <a:ext cx="1645920" cy="370332"/>
            </a:xfrm>
            <a:prstGeom prst="flowChartTerminator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ctr"/>
              <a:r>
                <a:rPr lang="en-UG" sz="105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Stop</a:t>
              </a:r>
              <a:endParaRPr lang="en-UG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3" name="Line 109">
              <a:extLst>
                <a:ext uri="{FF2B5EF4-FFF2-40B4-BE49-F238E27FC236}">
                  <a16:creationId xmlns:a16="http://schemas.microsoft.com/office/drawing/2014/main" id="{2EDBDDF5-E2D4-4223-B298-8D1A1C7C0EE0}"/>
                </a:ext>
              </a:extLst>
            </p:cNvPr>
            <p:cNvCxnSpPr/>
            <p:nvPr/>
          </p:nvCxnSpPr>
          <p:spPr>
            <a:xfrm>
              <a:off x="4773168" y="411480"/>
              <a:ext cx="0" cy="20574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Line 110">
              <a:extLst>
                <a:ext uri="{FF2B5EF4-FFF2-40B4-BE49-F238E27FC236}">
                  <a16:creationId xmlns:a16="http://schemas.microsoft.com/office/drawing/2014/main" id="{CCE5DCA6-B61B-4A27-AE55-4FC4DF2A8531}"/>
                </a:ext>
              </a:extLst>
            </p:cNvPr>
            <p:cNvCxnSpPr/>
            <p:nvPr/>
          </p:nvCxnSpPr>
          <p:spPr>
            <a:xfrm>
              <a:off x="4773168" y="1069848"/>
              <a:ext cx="0" cy="20574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Line 111">
              <a:extLst>
                <a:ext uri="{FF2B5EF4-FFF2-40B4-BE49-F238E27FC236}">
                  <a16:creationId xmlns:a16="http://schemas.microsoft.com/office/drawing/2014/main" id="{79B93149-8574-4DED-9E75-67F259D56A0C}"/>
                </a:ext>
              </a:extLst>
            </p:cNvPr>
            <p:cNvCxnSpPr/>
            <p:nvPr/>
          </p:nvCxnSpPr>
          <p:spPr>
            <a:xfrm>
              <a:off x="4773168" y="1728216"/>
              <a:ext cx="0" cy="20574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Line 112">
              <a:extLst>
                <a:ext uri="{FF2B5EF4-FFF2-40B4-BE49-F238E27FC236}">
                  <a16:creationId xmlns:a16="http://schemas.microsoft.com/office/drawing/2014/main" id="{59436361-6606-41EF-8154-2275CD1CE403}"/>
                </a:ext>
              </a:extLst>
            </p:cNvPr>
            <p:cNvCxnSpPr/>
            <p:nvPr/>
          </p:nvCxnSpPr>
          <p:spPr>
            <a:xfrm>
              <a:off x="4773168" y="2386584"/>
              <a:ext cx="0" cy="20574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Line 113">
              <a:extLst>
                <a:ext uri="{FF2B5EF4-FFF2-40B4-BE49-F238E27FC236}">
                  <a16:creationId xmlns:a16="http://schemas.microsoft.com/office/drawing/2014/main" id="{3EF1219E-3BE0-4311-A860-072427DBF81C}"/>
                </a:ext>
              </a:extLst>
            </p:cNvPr>
            <p:cNvCxnSpPr/>
            <p:nvPr/>
          </p:nvCxnSpPr>
          <p:spPr>
            <a:xfrm>
              <a:off x="4773168" y="3374136"/>
              <a:ext cx="0" cy="20574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Line 114">
              <a:extLst>
                <a:ext uri="{FF2B5EF4-FFF2-40B4-BE49-F238E27FC236}">
                  <a16:creationId xmlns:a16="http://schemas.microsoft.com/office/drawing/2014/main" id="{F4571051-8EA2-467A-AFE6-AA112D1ADA7F}"/>
                </a:ext>
              </a:extLst>
            </p:cNvPr>
            <p:cNvCxnSpPr/>
            <p:nvPr/>
          </p:nvCxnSpPr>
          <p:spPr>
            <a:xfrm>
              <a:off x="4773168" y="3991356"/>
              <a:ext cx="0" cy="20574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Label 115">
              <a:extLst>
                <a:ext uri="{FF2B5EF4-FFF2-40B4-BE49-F238E27FC236}">
                  <a16:creationId xmlns:a16="http://schemas.microsoft.com/office/drawing/2014/main" id="{97CEC380-4185-45E1-BE78-F4EF0902C5D6}"/>
                </a:ext>
              </a:extLst>
            </p:cNvPr>
            <p:cNvSpPr txBox="1"/>
            <p:nvPr/>
          </p:nvSpPr>
          <p:spPr>
            <a:xfrm>
              <a:off x="4855464" y="3374136"/>
              <a:ext cx="411480" cy="205740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r>
                <a:rPr lang="en-UG" sz="950" i="1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  <a:endParaRPr lang="en-UG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0" name="Label 116">
              <a:extLst>
                <a:ext uri="{FF2B5EF4-FFF2-40B4-BE49-F238E27FC236}">
                  <a16:creationId xmlns:a16="http://schemas.microsoft.com/office/drawing/2014/main" id="{B51F7621-175D-466A-B10F-51118A45C60B}"/>
                </a:ext>
              </a:extLst>
            </p:cNvPr>
            <p:cNvSpPr txBox="1"/>
            <p:nvPr/>
          </p:nvSpPr>
          <p:spPr>
            <a:xfrm>
              <a:off x="2633472" y="2756916"/>
              <a:ext cx="411480" cy="205740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r>
                <a:rPr lang="en-UG" sz="950" i="1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endParaRPr lang="en-UG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1" name="Line 117">
              <a:extLst>
                <a:ext uri="{FF2B5EF4-FFF2-40B4-BE49-F238E27FC236}">
                  <a16:creationId xmlns:a16="http://schemas.microsoft.com/office/drawing/2014/main" id="{29382AD9-6FD9-48AC-A99E-FC715F910E1C}"/>
                </a:ext>
              </a:extLst>
            </p:cNvPr>
            <p:cNvCxnSpPr/>
            <p:nvPr/>
          </p:nvCxnSpPr>
          <p:spPr>
            <a:xfrm flipH="1">
              <a:off x="1933956" y="2983230"/>
              <a:ext cx="1522476" cy="0"/>
            </a:xfrm>
            <a:prstGeom prst="line">
              <a:avLst/>
            </a:prstGeom>
            <a:ln w="19050">
              <a:solidFill>
                <a:srgbClr val="555555"/>
              </a:solidFill>
              <a:tailEnd type="triangle" w="med" len="med"/>
            </a:ln>
          </p:spPr>
        </p:cxnSp>
        <p:cxnSp>
          <p:nvCxnSpPr>
            <p:cNvPr id="22" name="Line 118">
              <a:extLst>
                <a:ext uri="{FF2B5EF4-FFF2-40B4-BE49-F238E27FC236}">
                  <a16:creationId xmlns:a16="http://schemas.microsoft.com/office/drawing/2014/main" id="{DF68F644-2CB7-4F12-898F-B067F0F251D6}"/>
                </a:ext>
              </a:extLst>
            </p:cNvPr>
            <p:cNvCxnSpPr/>
            <p:nvPr/>
          </p:nvCxnSpPr>
          <p:spPr>
            <a:xfrm flipV="1">
              <a:off x="987552" y="1501902"/>
              <a:ext cx="0" cy="1275588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Line 119">
              <a:extLst>
                <a:ext uri="{FF2B5EF4-FFF2-40B4-BE49-F238E27FC236}">
                  <a16:creationId xmlns:a16="http://schemas.microsoft.com/office/drawing/2014/main" id="{9B0E3A3F-5902-482A-913C-3F94A52D1687}"/>
                </a:ext>
              </a:extLst>
            </p:cNvPr>
            <p:cNvCxnSpPr/>
            <p:nvPr/>
          </p:nvCxnSpPr>
          <p:spPr>
            <a:xfrm>
              <a:off x="987552" y="1501902"/>
              <a:ext cx="2057400" cy="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713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E7DB-CD71-45C5-93EB-D2AF90A45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1300"/>
              </a:spcBef>
              <a:spcAft>
                <a:spcPts val="600"/>
              </a:spcAft>
            </a:pPr>
            <a:r>
              <a:rPr lang="en-UG" sz="18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MATLAB Code - "while" loop version</a:t>
            </a:r>
            <a:br>
              <a:rPr lang="en-UG" sz="18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</a:b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 version repeats the update step until the change between successive approximations is smaller than the tolerance.</a:t>
            </a:r>
            <a:br>
              <a:rPr lang="en-U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745C9-E31C-4BC6-91C2-AA6DFA6D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1057275"/>
            <a:ext cx="5724527" cy="5435600"/>
          </a:xfrm>
        </p:spPr>
        <p:txBody>
          <a:bodyPr>
            <a:normAutofit fontScale="70000" lnSpcReduction="20000"/>
          </a:bodyPr>
          <a:lstStyle/>
          <a:p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clc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clear;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  = @(x) x^2 - 4;      % function whose root we want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df = @(x) 2*x;          % derivative of f(x)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x0 = 3;                 % initial guess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tol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1e-4;             % tolerance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maxIter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50;           % safety limit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0;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err = 1;                % force entry into the loop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while err &gt; </a:t>
            </a: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tol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maxIter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x1 = x0 - f(x0)/df(x0);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err = abs(x1 - x0);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x0 = x1;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+ 1;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('Iteration %d: x = %.6f\n', </a:t>
            </a: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 x0);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('Root = %.6f found in %d iterations\n', x0, </a:t>
            </a: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EEF99-BEFE-429F-B49E-2138BBD2765D}"/>
              </a:ext>
            </a:extLst>
          </p:cNvPr>
          <p:cNvSpPr txBox="1"/>
          <p:nvPr/>
        </p:nvSpPr>
        <p:spPr>
          <a:xfrm>
            <a:off x="6238875" y="2871366"/>
            <a:ext cx="5114925" cy="283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Sample Output: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1: x = 2.166667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2: x = 2.006410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3: x = 2.000010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4: x = 2.000000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u="sng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Root = 2.000000 found in 4 iterations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6E4B87-AA4C-48EB-8C05-13FE953D792F}"/>
              </a:ext>
            </a:extLst>
          </p:cNvPr>
          <p:cNvCxnSpPr>
            <a:cxnSpLocks/>
          </p:cNvCxnSpPr>
          <p:nvPr/>
        </p:nvCxnSpPr>
        <p:spPr>
          <a:xfrm>
            <a:off x="6096000" y="1057275"/>
            <a:ext cx="0" cy="5764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97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B47A-AB9C-4A66-856B-FC8CA749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</p:spPr>
        <p:txBody>
          <a:bodyPr>
            <a:normAutofit fontScale="90000"/>
          </a:bodyPr>
          <a:lstStyle/>
          <a:p>
            <a:pPr>
              <a:spcBef>
                <a:spcPts val="1300"/>
              </a:spcBef>
              <a:spcAft>
                <a:spcPts val="600"/>
              </a:spcAft>
            </a:pPr>
            <a:r>
              <a:rPr lang="en-UG" sz="18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MATLAB Code - "for" loop version</a:t>
            </a:r>
            <a:br>
              <a:rPr lang="en-UG" sz="18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</a:b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 version runs a fixed number of iterations, useful when the number of steps is decided in advance rather than by a tolerance check.</a:t>
            </a:r>
            <a:br>
              <a:rPr lang="en-U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E5868-0763-49F3-BCC5-1E24362BE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3" y="928687"/>
            <a:ext cx="5857875" cy="5957887"/>
          </a:xfrm>
        </p:spPr>
        <p:txBody>
          <a:bodyPr>
            <a:normAutofit lnSpcReduction="10000"/>
          </a:bodyPr>
          <a:lstStyle/>
          <a:p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clc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clear;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 = @(x) x^2 - 4;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df = @(x) 2*x;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x0 = 3;              % initial guess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 = 6;                 % fixed number of iterations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1:n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x1 = x0 - f(x0)/df(x0);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('Iteration %d: x = %.6f\n', </a:t>
            </a: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 x1);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x0 = x1;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G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('Approximate root after %d iterations = %.6f\n', n, x0);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AB56E-89F5-4241-95D1-E506C62F5F0B}"/>
              </a:ext>
            </a:extLst>
          </p:cNvPr>
          <p:cNvSpPr txBox="1"/>
          <p:nvPr/>
        </p:nvSpPr>
        <p:spPr>
          <a:xfrm>
            <a:off x="6515099" y="1700312"/>
            <a:ext cx="5187553" cy="453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Sample Output: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1: x = 2.166667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2: x = 2.006410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3: x = 2.000010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4: x = 2.000000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5: x = 2.000000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6: x = 2.000000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u="none" strike="noStrik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u="dbl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Approximate root after 6 iterations = 2.000000</a:t>
            </a:r>
            <a:endParaRPr lang="en-UG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C0B97C-A98F-4890-A6B0-D767E9597FF0}"/>
              </a:ext>
            </a:extLst>
          </p:cNvPr>
          <p:cNvCxnSpPr>
            <a:cxnSpLocks/>
          </p:cNvCxnSpPr>
          <p:nvPr/>
        </p:nvCxnSpPr>
        <p:spPr>
          <a:xfrm>
            <a:off x="6096000" y="732632"/>
            <a:ext cx="0" cy="5760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287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00A381-B955-41DA-B375-AC73E4C57BB0}"/>
              </a:ext>
            </a:extLst>
          </p:cNvPr>
          <p:cNvSpPr txBox="1"/>
          <p:nvPr/>
        </p:nvSpPr>
        <p:spPr>
          <a:xfrm>
            <a:off x="457200" y="365341"/>
            <a:ext cx="11487150" cy="5850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More </a:t>
            </a:r>
            <a:r>
              <a:rPr lang="en-UG" sz="32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Examples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Example 1: f(x) = x² - 4, x₀ = 3.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 f'(x) = 2x.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Iteration 1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 (3) = 3² - 4 = 5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f'(3) = 2(3) = 6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x1 = 3 - 5/6 = 2.166667      error = |2.166667 - 3| = 0.833333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2: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 (2.166667) = 0.694444, 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f'(2.166667) = 4.333333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x2 = 2.166667 - 0.694444/4.333333 = 2.006410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57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8FC2F9-D0BC-47E6-86B8-788CF55C9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04172"/>
              </p:ext>
            </p:extLst>
          </p:nvPr>
        </p:nvGraphicFramePr>
        <p:xfrm>
          <a:off x="285750" y="2514600"/>
          <a:ext cx="11572878" cy="40862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8813">
                  <a:extLst>
                    <a:ext uri="{9D8B030D-6E8A-4147-A177-3AD203B41FA5}">
                      <a16:colId xmlns:a16="http://schemas.microsoft.com/office/drawing/2014/main" val="4095147185"/>
                    </a:ext>
                  </a:extLst>
                </a:gridCol>
                <a:gridCol w="1928813">
                  <a:extLst>
                    <a:ext uri="{9D8B030D-6E8A-4147-A177-3AD203B41FA5}">
                      <a16:colId xmlns:a16="http://schemas.microsoft.com/office/drawing/2014/main" val="1982327127"/>
                    </a:ext>
                  </a:extLst>
                </a:gridCol>
                <a:gridCol w="1928813">
                  <a:extLst>
                    <a:ext uri="{9D8B030D-6E8A-4147-A177-3AD203B41FA5}">
                      <a16:colId xmlns:a16="http://schemas.microsoft.com/office/drawing/2014/main" val="3743331153"/>
                    </a:ext>
                  </a:extLst>
                </a:gridCol>
                <a:gridCol w="1928813">
                  <a:extLst>
                    <a:ext uri="{9D8B030D-6E8A-4147-A177-3AD203B41FA5}">
                      <a16:colId xmlns:a16="http://schemas.microsoft.com/office/drawing/2014/main" val="2401078255"/>
                    </a:ext>
                  </a:extLst>
                </a:gridCol>
                <a:gridCol w="1928813">
                  <a:extLst>
                    <a:ext uri="{9D8B030D-6E8A-4147-A177-3AD203B41FA5}">
                      <a16:colId xmlns:a16="http://schemas.microsoft.com/office/drawing/2014/main" val="2692459587"/>
                    </a:ext>
                  </a:extLst>
                </a:gridCol>
                <a:gridCol w="1928813">
                  <a:extLst>
                    <a:ext uri="{9D8B030D-6E8A-4147-A177-3AD203B41FA5}">
                      <a16:colId xmlns:a16="http://schemas.microsoft.com/office/drawing/2014/main" val="1514586301"/>
                    </a:ext>
                  </a:extLst>
                </a:gridCol>
              </a:tblGrid>
              <a:tr h="863286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n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Xn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f(Xn)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f’(</a:t>
                      </a:r>
                      <a:r>
                        <a:rPr lang="en-US" sz="1000" dirty="0" err="1">
                          <a:effectLst/>
                        </a:rPr>
                        <a:t>Xn</a:t>
                      </a:r>
                      <a:r>
                        <a:rPr lang="en-US" sz="1000" dirty="0">
                          <a:effectLst/>
                        </a:rPr>
                        <a:t>)</a:t>
                      </a:r>
                      <a:endParaRPr lang="en-UG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Xn+1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Error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2669009122"/>
                  </a:ext>
                </a:extLst>
              </a:tr>
              <a:tr h="805735"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3.000000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5.000000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6.000000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2.166667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0.833333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1708217713"/>
                  </a:ext>
                </a:extLst>
              </a:tr>
              <a:tr h="805735"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2.166667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0.694444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4.333333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2.006410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0.160256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937262103"/>
                  </a:ext>
                </a:extLst>
              </a:tr>
              <a:tr h="805735"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3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2.006410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0.025682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4.012821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2.000010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0.006400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2559901818"/>
                  </a:ext>
                </a:extLst>
              </a:tr>
              <a:tr h="805735"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4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2.000010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0.000041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4.000020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2.000000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 dirty="0">
                          <a:effectLst/>
                        </a:rPr>
                        <a:t>0.000010</a:t>
                      </a:r>
                      <a:endParaRPr lang="en-UG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33356009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5AECD61-7DB3-4AA6-AF13-2518D005A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1385213"/>
            <a:ext cx="103870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All iterations</a:t>
            </a:r>
            <a:r>
              <a:rPr kumimoji="0" lang="en-US" altLang="en-UG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</a:t>
            </a:r>
            <a:endParaRPr kumimoji="0" lang="en-US" altLang="en-UG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The error is below 0.0001 after iteration 4, so the root is x ≈ 2.000000 (exact root: 2).</a:t>
            </a:r>
            <a:endParaRPr kumimoji="0" lang="en-US" altLang="en-UG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68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7BA51B-C8BB-4AAB-B8CE-511271576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787053"/>
              </p:ext>
            </p:extLst>
          </p:nvPr>
        </p:nvGraphicFramePr>
        <p:xfrm>
          <a:off x="257175" y="3566954"/>
          <a:ext cx="11758614" cy="32910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9769">
                  <a:extLst>
                    <a:ext uri="{9D8B030D-6E8A-4147-A177-3AD203B41FA5}">
                      <a16:colId xmlns:a16="http://schemas.microsoft.com/office/drawing/2014/main" val="3028318643"/>
                    </a:ext>
                  </a:extLst>
                </a:gridCol>
                <a:gridCol w="1959769">
                  <a:extLst>
                    <a:ext uri="{9D8B030D-6E8A-4147-A177-3AD203B41FA5}">
                      <a16:colId xmlns:a16="http://schemas.microsoft.com/office/drawing/2014/main" val="375583450"/>
                    </a:ext>
                  </a:extLst>
                </a:gridCol>
                <a:gridCol w="1959769">
                  <a:extLst>
                    <a:ext uri="{9D8B030D-6E8A-4147-A177-3AD203B41FA5}">
                      <a16:colId xmlns:a16="http://schemas.microsoft.com/office/drawing/2014/main" val="3440968364"/>
                    </a:ext>
                  </a:extLst>
                </a:gridCol>
                <a:gridCol w="1959769">
                  <a:extLst>
                    <a:ext uri="{9D8B030D-6E8A-4147-A177-3AD203B41FA5}">
                      <a16:colId xmlns:a16="http://schemas.microsoft.com/office/drawing/2014/main" val="1124394057"/>
                    </a:ext>
                  </a:extLst>
                </a:gridCol>
                <a:gridCol w="1959769">
                  <a:extLst>
                    <a:ext uri="{9D8B030D-6E8A-4147-A177-3AD203B41FA5}">
                      <a16:colId xmlns:a16="http://schemas.microsoft.com/office/drawing/2014/main" val="3502819491"/>
                    </a:ext>
                  </a:extLst>
                </a:gridCol>
                <a:gridCol w="1959769">
                  <a:extLst>
                    <a:ext uri="{9D8B030D-6E8A-4147-A177-3AD203B41FA5}">
                      <a16:colId xmlns:a16="http://schemas.microsoft.com/office/drawing/2014/main" val="717971967"/>
                    </a:ext>
                  </a:extLst>
                </a:gridCol>
              </a:tblGrid>
              <a:tr h="866064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n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Xn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f(Xn)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f(Xn)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Xn+1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Error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4062149912"/>
                  </a:ext>
                </a:extLst>
              </a:tr>
              <a:tr h="808327"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1.000000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-1.000000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2.000000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1.500000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0.500000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748570597"/>
                  </a:ext>
                </a:extLst>
              </a:tr>
              <a:tr h="808327"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1.500000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0.250000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3.000000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1.416667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0.083333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2508171246"/>
                  </a:ext>
                </a:extLst>
              </a:tr>
              <a:tr h="808327"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3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1.416667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0.006944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2.833333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1.414216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 dirty="0">
                          <a:effectLst/>
                        </a:rPr>
                        <a:t>0.002451</a:t>
                      </a:r>
                      <a:endParaRPr lang="en-UG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394394603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3DB959D-793C-42C6-8ADA-4C3457897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168742"/>
            <a:ext cx="1139485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Example 2: </a:t>
            </a:r>
            <a:r>
              <a:rPr kumimoji="0" lang="en-US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Given that f(x) = x² - 2, find √2 where x₀ = 1.</a:t>
            </a:r>
            <a:endParaRPr kumimoji="0" lang="en-US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2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solution</a:t>
            </a:r>
            <a:endParaRPr kumimoji="0" lang="en-US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f(x) = x² - 2</a:t>
            </a:r>
            <a:endParaRPr kumimoji="0" lang="en-US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f'(x) = 2x.</a:t>
            </a:r>
            <a:endParaRPr kumimoji="0" lang="en-US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After 3 iterations x ≈ 1.414216, which is within 0.000002 of √2 = 1.414214.</a:t>
            </a:r>
            <a:endParaRPr kumimoji="0" lang="en-US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509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2E45DB-E6E5-47C2-B239-00DD77CD189D}"/>
              </a:ext>
            </a:extLst>
          </p:cNvPr>
          <p:cNvSpPr txBox="1"/>
          <p:nvPr/>
        </p:nvSpPr>
        <p:spPr>
          <a:xfrm>
            <a:off x="557213" y="63976"/>
            <a:ext cx="11287125" cy="610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800"/>
              </a:spcAft>
            </a:pPr>
            <a:r>
              <a:rPr lang="en-US" sz="2800" b="1" kern="0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2.</a:t>
            </a:r>
            <a:r>
              <a:rPr lang="en-UG" sz="2800" b="1" kern="0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 Secant Method</a:t>
            </a:r>
          </a:p>
          <a:p>
            <a:pPr>
              <a:spcBef>
                <a:spcPts val="1300"/>
              </a:spcBef>
              <a:spcAft>
                <a:spcPts val="600"/>
              </a:spcAft>
            </a:pPr>
            <a:r>
              <a:rPr lang="en-UG" sz="24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 Problem Statement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Find the root of the equation f(x) = x³ - x - 2 = 0 using the Secant method, starting from two initial guesses x₀ = 1 and x₁ = 2, correct to a tolerance of 0.0001.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G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x₂ = x₁ - f(x₁)(x₁ - x₀) / (f(x₁) - f(x₀))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 exact root (to 6 decimal places) is x ≈ 1.521380.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300"/>
              </a:spcBef>
              <a:spcAft>
                <a:spcPts val="600"/>
              </a:spcAft>
            </a:pPr>
            <a:r>
              <a:rPr lang="en-UG" sz="24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 Pseudo code</a:t>
            </a: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Start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Read two initial guesses x0 and x1, and tolerance e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Define f(x)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Repeat: compute x2 = x1 - f(x1)(x1 - x0) / (f(x1) - f(x0))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Compute the error = |x2 - x1|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If |x2 - x1| &lt;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error</a:t>
            </a: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the root has been found: display x2 and stop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Otherwise, set x0 = x1, x1 = x2, and repeat from step 4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Stop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513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B93D-1407-4200-8690-92096F0E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804CA-EC67-4F0E-9B68-B0C85AD7F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 dirty="0"/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33718918-F526-4F72-81C9-0528C04A6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grpSp>
        <p:nvGrpSpPr>
          <p:cNvPr id="5" name="Flowchart 901">
            <a:extLst>
              <a:ext uri="{FF2B5EF4-FFF2-40B4-BE49-F238E27FC236}">
                <a16:creationId xmlns:a16="http://schemas.microsoft.com/office/drawing/2014/main" id="{F88FFEBB-5A71-416B-AAFA-4745F23833CE}"/>
              </a:ext>
            </a:extLst>
          </p:cNvPr>
          <p:cNvGrpSpPr>
            <a:grpSpLocks/>
          </p:cNvGrpSpPr>
          <p:nvPr/>
        </p:nvGrpSpPr>
        <p:grpSpPr bwMode="auto">
          <a:xfrm>
            <a:off x="1957388" y="1825625"/>
            <a:ext cx="6172200" cy="4041775"/>
            <a:chOff x="0" y="0"/>
            <a:chExt cx="70363" cy="46085"/>
          </a:xfrm>
        </p:grpSpPr>
        <p:sp>
          <p:nvSpPr>
            <p:cNvPr id="6" name="Shape 101">
              <a:extLst>
                <a:ext uri="{FF2B5EF4-FFF2-40B4-BE49-F238E27FC236}">
                  <a16:creationId xmlns:a16="http://schemas.microsoft.com/office/drawing/2014/main" id="{3190BE88-5E99-49AF-9E01-BD4F20145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02" y="411"/>
              <a:ext cx="16459" cy="3703"/>
            </a:xfrm>
            <a:prstGeom prst="flowChartTerminator">
              <a:avLst/>
            </a:prstGeom>
            <a:solidFill>
              <a:srgbClr val="DCE9F5"/>
            </a:solidFill>
            <a:ln w="19050">
              <a:solidFill>
                <a:srgbClr val="2E5C8A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Start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Shape 102">
              <a:extLst>
                <a:ext uri="{FF2B5EF4-FFF2-40B4-BE49-F238E27FC236}">
                  <a16:creationId xmlns:a16="http://schemas.microsoft.com/office/drawing/2014/main" id="{37589475-8415-49F0-A889-7263819F6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9" y="6172"/>
              <a:ext cx="34564" cy="4526"/>
            </a:xfrm>
            <a:prstGeom prst="flowChartProcess">
              <a:avLst/>
            </a:prstGeom>
            <a:solidFill>
              <a:srgbClr val="DCE9F5"/>
            </a:solidFill>
            <a:ln w="19050">
              <a:solidFill>
                <a:srgbClr val="2E5C8A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Input: f(x), guesses x0, x1, tolerance e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Shape 103">
              <a:extLst>
                <a:ext uri="{FF2B5EF4-FFF2-40B4-BE49-F238E27FC236}">
                  <a16:creationId xmlns:a16="http://schemas.microsoft.com/office/drawing/2014/main" id="{BFAD3449-3F11-478B-869D-2023AD0FB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1" y="12755"/>
              <a:ext cx="44440" cy="4527"/>
            </a:xfrm>
            <a:prstGeom prst="flowChartProcess">
              <a:avLst/>
            </a:prstGeom>
            <a:solidFill>
              <a:srgbClr val="DFF0DF"/>
            </a:solidFill>
            <a:ln w="19050">
              <a:solidFill>
                <a:srgbClr val="3A7D44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Compute  x2 = x1 - f(x1)(x1-x0)/(f(x1)-f(x0))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Shape 104">
              <a:extLst>
                <a:ext uri="{FF2B5EF4-FFF2-40B4-BE49-F238E27FC236}">
                  <a16:creationId xmlns:a16="http://schemas.microsoft.com/office/drawing/2014/main" id="{E5D1944D-A041-412D-B607-DD817B57E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7" y="19339"/>
              <a:ext cx="24689" cy="4526"/>
            </a:xfrm>
            <a:prstGeom prst="flowChartProcess">
              <a:avLst/>
            </a:prstGeom>
            <a:solidFill>
              <a:srgbClr val="DFF0DF"/>
            </a:solidFill>
            <a:ln w="19050">
              <a:solidFill>
                <a:srgbClr val="3A7D44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Compute error |x2 - x1|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Shape 105">
              <a:extLst>
                <a:ext uri="{FF2B5EF4-FFF2-40B4-BE49-F238E27FC236}">
                  <a16:creationId xmlns:a16="http://schemas.microsoft.com/office/drawing/2014/main" id="{A850CCE8-C4B4-4DCB-8581-B8F66D7EF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4" y="25923"/>
              <a:ext cx="26335" cy="7818"/>
            </a:xfrm>
            <a:prstGeom prst="flowChartDecision">
              <a:avLst/>
            </a:prstGeom>
            <a:solidFill>
              <a:srgbClr val="FCE9D4"/>
            </a:solidFill>
            <a:ln w="19050">
              <a:solidFill>
                <a:srgbClr val="C8720A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Is |x2 - x1| &lt; e</a:t>
              </a:r>
              <a:r>
                <a:rPr kumimoji="0" lang="en-US" altLang="en-UG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rror ?</a:t>
              </a:r>
              <a:endParaRPr kumimoji="0" lang="en-US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Shape 106">
              <a:extLst>
                <a:ext uri="{FF2B5EF4-FFF2-40B4-BE49-F238E27FC236}">
                  <a16:creationId xmlns:a16="http://schemas.microsoft.com/office/drawing/2014/main" id="{83FA09B4-2F4A-4E76-BD2E-40081A045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" y="27774"/>
              <a:ext cx="18928" cy="4115"/>
            </a:xfrm>
            <a:prstGeom prst="flowChartProcess">
              <a:avLst/>
            </a:prstGeom>
            <a:solidFill>
              <a:srgbClr val="DCE9F5"/>
            </a:solidFill>
            <a:ln w="19050">
              <a:solidFill>
                <a:srgbClr val="2E5C8A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Set x0 = x1,  x1 = x2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Shape 107">
              <a:extLst>
                <a:ext uri="{FF2B5EF4-FFF2-40B4-BE49-F238E27FC236}">
                  <a16:creationId xmlns:a16="http://schemas.microsoft.com/office/drawing/2014/main" id="{2D2E75AA-E7C7-4954-9573-872A177C7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7" y="35798"/>
              <a:ext cx="24689" cy="4115"/>
            </a:xfrm>
            <a:prstGeom prst="flowChartProcess">
              <a:avLst/>
            </a:prstGeom>
            <a:solidFill>
              <a:srgbClr val="DFF0DF"/>
            </a:solidFill>
            <a:ln w="19050">
              <a:solidFill>
                <a:srgbClr val="3A7D44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Display root x2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Shape 108">
              <a:extLst>
                <a:ext uri="{FF2B5EF4-FFF2-40B4-BE49-F238E27FC236}">
                  <a16:creationId xmlns:a16="http://schemas.microsoft.com/office/drawing/2014/main" id="{98E2EB9C-F2F7-4179-9033-4CC29A80C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02" y="41970"/>
              <a:ext cx="16459" cy="3704"/>
            </a:xfrm>
            <a:prstGeom prst="flowChartTerminator">
              <a:avLst/>
            </a:prstGeom>
            <a:solidFill>
              <a:srgbClr val="DCE9F5"/>
            </a:solidFill>
            <a:ln w="19050">
              <a:solidFill>
                <a:srgbClr val="2E5C8A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Stop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Line 109">
              <a:extLst>
                <a:ext uri="{FF2B5EF4-FFF2-40B4-BE49-F238E27FC236}">
                  <a16:creationId xmlns:a16="http://schemas.microsoft.com/office/drawing/2014/main" id="{2774D5C0-3320-4EF0-A950-BD575A4BC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31" y="4114"/>
              <a:ext cx="0" cy="2058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15" name="Line 110">
              <a:extLst>
                <a:ext uri="{FF2B5EF4-FFF2-40B4-BE49-F238E27FC236}">
                  <a16:creationId xmlns:a16="http://schemas.microsoft.com/office/drawing/2014/main" id="{92A1A9D0-BF25-4318-B2B7-96CCB7FAD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31" y="10698"/>
              <a:ext cx="0" cy="2057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16" name="Line 111">
              <a:extLst>
                <a:ext uri="{FF2B5EF4-FFF2-40B4-BE49-F238E27FC236}">
                  <a16:creationId xmlns:a16="http://schemas.microsoft.com/office/drawing/2014/main" id="{2ABD8773-7DFA-452A-95B2-EBA307E34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31" y="17282"/>
              <a:ext cx="0" cy="2057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17" name="Line 112">
              <a:extLst>
                <a:ext uri="{FF2B5EF4-FFF2-40B4-BE49-F238E27FC236}">
                  <a16:creationId xmlns:a16="http://schemas.microsoft.com/office/drawing/2014/main" id="{F1195E66-7154-4BAE-9153-E8CBB75F9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31" y="23865"/>
              <a:ext cx="0" cy="2058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18" name="Line 113">
              <a:extLst>
                <a:ext uri="{FF2B5EF4-FFF2-40B4-BE49-F238E27FC236}">
                  <a16:creationId xmlns:a16="http://schemas.microsoft.com/office/drawing/2014/main" id="{F53E7E00-6B37-4631-9215-360DDAE89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31" y="33741"/>
              <a:ext cx="0" cy="2057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19" name="Line 114">
              <a:extLst>
                <a:ext uri="{FF2B5EF4-FFF2-40B4-BE49-F238E27FC236}">
                  <a16:creationId xmlns:a16="http://schemas.microsoft.com/office/drawing/2014/main" id="{1E62A875-12D6-4476-9AB9-442292298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31" y="39913"/>
              <a:ext cx="0" cy="2057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20" name="Label 115">
              <a:extLst>
                <a:ext uri="{FF2B5EF4-FFF2-40B4-BE49-F238E27FC236}">
                  <a16:creationId xmlns:a16="http://schemas.microsoft.com/office/drawing/2014/main" id="{6C4A165E-A4BF-498E-B9A5-0767AD4E5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4" y="33741"/>
              <a:ext cx="4115" cy="2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Yes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Label 116">
              <a:extLst>
                <a:ext uri="{FF2B5EF4-FFF2-40B4-BE49-F238E27FC236}">
                  <a16:creationId xmlns:a16="http://schemas.microsoft.com/office/drawing/2014/main" id="{8EB8D03B-C1AB-4B61-A20A-1C136B666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34" y="27569"/>
              <a:ext cx="4115" cy="2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No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Line 117">
              <a:extLst>
                <a:ext uri="{FF2B5EF4-FFF2-40B4-BE49-F238E27FC236}">
                  <a16:creationId xmlns:a16="http://schemas.microsoft.com/office/drawing/2014/main" id="{8633A845-F3D3-442C-9DB8-B2E6DD27C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39" y="29832"/>
              <a:ext cx="15225" cy="0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23" name="Line 118">
              <a:extLst>
                <a:ext uri="{FF2B5EF4-FFF2-40B4-BE49-F238E27FC236}">
                  <a16:creationId xmlns:a16="http://schemas.microsoft.com/office/drawing/2014/main" id="{82919FCD-ACFF-48ED-8193-F1F2A647B8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75" y="15019"/>
              <a:ext cx="0" cy="12755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24" name="Line 119">
              <a:extLst>
                <a:ext uri="{FF2B5EF4-FFF2-40B4-BE49-F238E27FC236}">
                  <a16:creationId xmlns:a16="http://schemas.microsoft.com/office/drawing/2014/main" id="{CDFCB351-EB4F-4E34-B9C4-369BE9ED8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75" y="15019"/>
              <a:ext cx="15636" cy="0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</p:grpSp>
    </p:spTree>
    <p:extLst>
      <p:ext uri="{BB962C8B-B14F-4D97-AF65-F5344CB8AC3E}">
        <p14:creationId xmlns:p14="http://schemas.microsoft.com/office/powerpoint/2010/main" val="1295496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AE02483-A6BA-4DF8-8D29-7CF64E1E0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3" y="488138"/>
            <a:ext cx="3379130" cy="7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65048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rgbClr val="2E74B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MATLAB Code - "while" loop 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Box 41">
            <a:extLst>
              <a:ext uri="{FF2B5EF4-FFF2-40B4-BE49-F238E27FC236}">
                <a16:creationId xmlns:a16="http://schemas.microsoft.com/office/drawing/2014/main" id="{EEA8D613-0EC0-4CAA-AEC1-E85BB900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3" y="1209616"/>
            <a:ext cx="5305425" cy="5047536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onsolas" panose="020B0609020204030204" pitchFamily="49" charset="0"/>
                <a:cs typeface="Consolas" panose="020B0609020204030204" pitchFamily="49" charset="0"/>
              </a:rPr>
              <a:t>clc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onsolas" panose="020B0609020204030204" pitchFamily="49" charset="0"/>
                <a:cs typeface="Consolas" panose="020B0609020204030204" pitchFamily="49" charset="0"/>
              </a:rPr>
              <a:t>; clear;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 = @(x) x^3 - x - 2;   % function whose root we want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x0 = 1; x1 = 2;         % two initial guesses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tol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= 1e-4;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maxIter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= 50;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= 0;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err = 1;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while err &gt;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tol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maxIter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x2 = x1 - f(x1)*(x1 - x0)/(f(x1) - f(x0));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err = abs(x2 - x1);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x0 = x1;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x1 = x2;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+ 1;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('Iteration %d: x = %.6f\n',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, x1);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end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('Root = %.6f found in %d iterations\n', x1,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kumimoji="0" lang="en-UG" altLang="en-UG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E92E92-23AB-434C-9E1D-2A263067D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3" y="11001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804F93-9E14-4686-8A2D-BA4C5B04766F}"/>
              </a:ext>
            </a:extLst>
          </p:cNvPr>
          <p:cNvSpPr txBox="1"/>
          <p:nvPr/>
        </p:nvSpPr>
        <p:spPr>
          <a:xfrm>
            <a:off x="7072312" y="1471761"/>
            <a:ext cx="4750593" cy="453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Sample Output: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1: x = 1.333333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2: x = 1.462687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3: x = 1.531169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4: x = 1.520926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5: x = 1.521376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6: x = 1.521380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u="sng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Root = 1.521380 found in 6 iterations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767241-295B-42F2-A23F-4C46BEE78BF7}"/>
              </a:ext>
            </a:extLst>
          </p:cNvPr>
          <p:cNvCxnSpPr>
            <a:stCxn id="4" idx="0"/>
          </p:cNvCxnSpPr>
          <p:nvPr/>
        </p:nvCxnSpPr>
        <p:spPr>
          <a:xfrm>
            <a:off x="6196013" y="1100138"/>
            <a:ext cx="76200" cy="5314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704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F915E85-2560-433A-B280-B25808AF7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4800"/>
            <a:ext cx="3204403" cy="7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65048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300" b="0" i="0" u="none" strike="noStrike" cap="none" normalizeH="0" baseline="0" dirty="0">
                <a:ln>
                  <a:noFill/>
                </a:ln>
                <a:solidFill>
                  <a:srgbClr val="2E74B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rgbClr val="2E74B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MATLAB Code - "for" loop version</a:t>
            </a:r>
            <a:endParaRPr kumimoji="0" lang="en-UG" altLang="en-UG" sz="1300" b="0" i="0" u="none" strike="noStrike" cap="none" normalizeH="0" baseline="0" dirty="0">
              <a:ln>
                <a:noFill/>
              </a:ln>
              <a:solidFill>
                <a:srgbClr val="2E74B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Box 42">
            <a:extLst>
              <a:ext uri="{FF2B5EF4-FFF2-40B4-BE49-F238E27FC236}">
                <a16:creationId xmlns:a16="http://schemas.microsoft.com/office/drawing/2014/main" id="{3A085006-3250-460F-A128-0E9EF8D13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68399"/>
            <a:ext cx="4614863" cy="3785652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onsolas" panose="020B0609020204030204" pitchFamily="49" charset="0"/>
                <a:cs typeface="Consolas" panose="020B0609020204030204" pitchFamily="49" charset="0"/>
              </a:rPr>
              <a:t>clc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onsolas" panose="020B0609020204030204" pitchFamily="49" charset="0"/>
                <a:cs typeface="Consolas" panose="020B0609020204030204" pitchFamily="49" charset="0"/>
              </a:rPr>
              <a:t>; clear;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 = @(x) x^3 - x - 2;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x0 = 1; x1 = 2;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n = 6;                  % fixed number of iterations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= 1:n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x2 = x1 - f(x1)*(x1 - x0)/(f(x1) - f(x0));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('Iteration %d: x = %.6f\n',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, x2);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x0 = x1;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x1 = x2;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end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('Approximate root after %d iterations = %.6f\n', n, x1);</a:t>
            </a:r>
            <a:endParaRPr kumimoji="0" lang="en-UG" altLang="en-UG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0AB405-815B-488C-83B1-D80021F59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7505DE-5587-49BA-9A41-BAF35F9DCFF5}"/>
              </a:ext>
            </a:extLst>
          </p:cNvPr>
          <p:cNvSpPr txBox="1"/>
          <p:nvPr/>
        </p:nvSpPr>
        <p:spPr>
          <a:xfrm>
            <a:off x="5672137" y="971600"/>
            <a:ext cx="4929187" cy="453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Sample Output: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1: x = 1.333333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2: x = 1.462687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3: x = 1.531169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4: x = 1.520926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5: x = 1.521376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6: x = 1.521380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u="sng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Approximate root after 6 iterations = 1.521380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DDECE4-2E4A-494A-9FBF-94DCE1BC9398}"/>
              </a:ext>
            </a:extLst>
          </p:cNvPr>
          <p:cNvCxnSpPr>
            <a:cxnSpLocks/>
          </p:cNvCxnSpPr>
          <p:nvPr/>
        </p:nvCxnSpPr>
        <p:spPr>
          <a:xfrm>
            <a:off x="5200650" y="1168400"/>
            <a:ext cx="0" cy="3946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09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900B38-2466-4CEA-B145-06753AA9178F}"/>
              </a:ext>
            </a:extLst>
          </p:cNvPr>
          <p:cNvSpPr txBox="1"/>
          <p:nvPr/>
        </p:nvSpPr>
        <p:spPr>
          <a:xfrm>
            <a:off x="471488" y="728663"/>
            <a:ext cx="11287125" cy="590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spcAft>
                <a:spcPts val="600"/>
              </a:spcAft>
            </a:pPr>
            <a:r>
              <a:rPr lang="en-US" sz="13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More </a:t>
            </a:r>
            <a:r>
              <a:rPr lang="en-UG" sz="13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Examples</a:t>
            </a:r>
            <a:r>
              <a:rPr lang="en-US" sz="13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:</a:t>
            </a:r>
            <a:endParaRPr lang="en-UG" sz="1300" b="1" dirty="0">
              <a:solidFill>
                <a:srgbClr val="2E74B5"/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3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Example 1: f(x) = x³ - x - 2, x₀ = 1, x₁ = 2. 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3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Iteration 1: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(1) = 1 - 1 - 2 = -2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 (2) = 8 - 2 - 2 = 4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x2 = 2 - 4(2 - 1) / (4 - (-2)) 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= 2 - 4/6 = 1.333333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error = |1.333333 - 2| = 0.666667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Iteration 2: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x0 = 2,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x1 = 1.333333, 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f(x0) = 4, 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f(x1) = -0.962963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x3 = 1.333333 - (-0.962963)(1.333333 - 2) / (-0.962963 - 4)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G" sz="13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1.462687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3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UG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435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369E35-DE68-4B4F-8CF2-3782B646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45483"/>
              </p:ext>
            </p:extLst>
          </p:nvPr>
        </p:nvGraphicFramePr>
        <p:xfrm>
          <a:off x="657225" y="1371600"/>
          <a:ext cx="10658472" cy="35267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2012">
                  <a:extLst>
                    <a:ext uri="{9D8B030D-6E8A-4147-A177-3AD203B41FA5}">
                      <a16:colId xmlns:a16="http://schemas.microsoft.com/office/drawing/2014/main" val="80928522"/>
                    </a:ext>
                  </a:extLst>
                </a:gridCol>
                <a:gridCol w="1522012">
                  <a:extLst>
                    <a:ext uri="{9D8B030D-6E8A-4147-A177-3AD203B41FA5}">
                      <a16:colId xmlns:a16="http://schemas.microsoft.com/office/drawing/2014/main" val="4265292606"/>
                    </a:ext>
                  </a:extLst>
                </a:gridCol>
                <a:gridCol w="1522012">
                  <a:extLst>
                    <a:ext uri="{9D8B030D-6E8A-4147-A177-3AD203B41FA5}">
                      <a16:colId xmlns:a16="http://schemas.microsoft.com/office/drawing/2014/main" val="923945274"/>
                    </a:ext>
                  </a:extLst>
                </a:gridCol>
                <a:gridCol w="1523109">
                  <a:extLst>
                    <a:ext uri="{9D8B030D-6E8A-4147-A177-3AD203B41FA5}">
                      <a16:colId xmlns:a16="http://schemas.microsoft.com/office/drawing/2014/main" val="1281097645"/>
                    </a:ext>
                  </a:extLst>
                </a:gridCol>
                <a:gridCol w="1523109">
                  <a:extLst>
                    <a:ext uri="{9D8B030D-6E8A-4147-A177-3AD203B41FA5}">
                      <a16:colId xmlns:a16="http://schemas.microsoft.com/office/drawing/2014/main" val="3553666568"/>
                    </a:ext>
                  </a:extLst>
                </a:gridCol>
                <a:gridCol w="1523109">
                  <a:extLst>
                    <a:ext uri="{9D8B030D-6E8A-4147-A177-3AD203B41FA5}">
                      <a16:colId xmlns:a16="http://schemas.microsoft.com/office/drawing/2014/main" val="2845012814"/>
                    </a:ext>
                  </a:extLst>
                </a:gridCol>
                <a:gridCol w="1523109">
                  <a:extLst>
                    <a:ext uri="{9D8B030D-6E8A-4147-A177-3AD203B41FA5}">
                      <a16:colId xmlns:a16="http://schemas.microsoft.com/office/drawing/2014/main" val="1029651498"/>
                    </a:ext>
                  </a:extLst>
                </a:gridCol>
              </a:tblGrid>
              <a:tr h="427793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n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Xo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X1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f(X0)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f(X1)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X2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Error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2671635068"/>
                  </a:ext>
                </a:extLst>
              </a:tr>
              <a:tr h="465214"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1.000000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2.000000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-2.000000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4.000000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1.333333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0.666667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672313059"/>
                  </a:ext>
                </a:extLst>
              </a:tr>
              <a:tr h="526751"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2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2.000000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1.333333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4.000000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-0.962963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1.462687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0.129353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1725477058"/>
                  </a:ext>
                </a:extLst>
              </a:tr>
              <a:tr h="526751"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1.333333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1.462687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-0.962963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-0.333339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1.531169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0.068483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550888521"/>
                  </a:ext>
                </a:extLst>
              </a:tr>
              <a:tr h="526751"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4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1.462687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1.531169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-0.333339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0.058626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1.520926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0.010243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367409933"/>
                  </a:ext>
                </a:extLst>
              </a:tr>
              <a:tr h="526751"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5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1.531169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1.520926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0.058626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-0.002693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1.521376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0.000450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609250624"/>
                  </a:ext>
                </a:extLst>
              </a:tr>
              <a:tr h="526751"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1.520926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1.521376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-0.002693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-0.000020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1.521380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0.000003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314909309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E1261D0-4B79-4172-8E46-EA51EF805A6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00629" y="856449"/>
            <a:ext cx="32430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All iterations</a:t>
            </a:r>
            <a:r>
              <a:rPr kumimoji="0" lang="en-US" altLang="en-U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</a:t>
            </a:r>
            <a:endParaRPr kumimoji="0" lang="en-US" altLang="en-U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DBECC-2742-4B31-B0C5-C1692E8224E5}"/>
              </a:ext>
            </a:extLst>
          </p:cNvPr>
          <p:cNvSpPr txBox="1"/>
          <p:nvPr/>
        </p:nvSpPr>
        <p:spPr>
          <a:xfrm>
            <a:off x="1443038" y="530173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The error falls below 0.0001 at iteration 6, so the root is x ≈ 1.521380.</a:t>
            </a:r>
            <a:endParaRPr kumimoji="0" lang="en-US" altLang="en-UG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60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518686-6B14-429A-AF29-AAD0D6FB5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797270"/>
              </p:ext>
            </p:extLst>
          </p:nvPr>
        </p:nvGraphicFramePr>
        <p:xfrm>
          <a:off x="1385888" y="1914525"/>
          <a:ext cx="9986959" cy="39511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247002720"/>
                    </a:ext>
                  </a:extLst>
                </a:gridCol>
                <a:gridCol w="1997618">
                  <a:extLst>
                    <a:ext uri="{9D8B030D-6E8A-4147-A177-3AD203B41FA5}">
                      <a16:colId xmlns:a16="http://schemas.microsoft.com/office/drawing/2014/main" val="424001598"/>
                    </a:ext>
                  </a:extLst>
                </a:gridCol>
                <a:gridCol w="1570309">
                  <a:extLst>
                    <a:ext uri="{9D8B030D-6E8A-4147-A177-3AD203B41FA5}">
                      <a16:colId xmlns:a16="http://schemas.microsoft.com/office/drawing/2014/main" val="2646623275"/>
                    </a:ext>
                  </a:extLst>
                </a:gridCol>
                <a:gridCol w="1571440">
                  <a:extLst>
                    <a:ext uri="{9D8B030D-6E8A-4147-A177-3AD203B41FA5}">
                      <a16:colId xmlns:a16="http://schemas.microsoft.com/office/drawing/2014/main" val="1864955374"/>
                    </a:ext>
                  </a:extLst>
                </a:gridCol>
                <a:gridCol w="1571440">
                  <a:extLst>
                    <a:ext uri="{9D8B030D-6E8A-4147-A177-3AD203B41FA5}">
                      <a16:colId xmlns:a16="http://schemas.microsoft.com/office/drawing/2014/main" val="120047416"/>
                    </a:ext>
                  </a:extLst>
                </a:gridCol>
                <a:gridCol w="1133030">
                  <a:extLst>
                    <a:ext uri="{9D8B030D-6E8A-4147-A177-3AD203B41FA5}">
                      <a16:colId xmlns:a16="http://schemas.microsoft.com/office/drawing/2014/main" val="2051043120"/>
                    </a:ext>
                  </a:extLst>
                </a:gridCol>
                <a:gridCol w="1000122">
                  <a:extLst>
                    <a:ext uri="{9D8B030D-6E8A-4147-A177-3AD203B41FA5}">
                      <a16:colId xmlns:a16="http://schemas.microsoft.com/office/drawing/2014/main" val="687098481"/>
                    </a:ext>
                  </a:extLst>
                </a:gridCol>
              </a:tblGrid>
              <a:tr h="683574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effectLst/>
                        </a:rPr>
                        <a:t>n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X0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effectLst/>
                        </a:rPr>
                        <a:t>X1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effectLst/>
                        </a:rPr>
                        <a:t>f(X0)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effectLst/>
                        </a:rPr>
                        <a:t>f(X1)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X2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Error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2486960111"/>
                  </a:ext>
                </a:extLst>
              </a:tr>
              <a:tr h="816902"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1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1.000000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2.000000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-1.000000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2.000000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1.333333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0.666667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3173268783"/>
                  </a:ext>
                </a:extLst>
              </a:tr>
              <a:tr h="816902"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2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2.000000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 dirty="0">
                          <a:effectLst/>
                        </a:rPr>
                        <a:t>1.333333</a:t>
                      </a:r>
                      <a:endParaRPr lang="en-UG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2.000000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-0.222222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1.400000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0.066667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1533448281"/>
                  </a:ext>
                </a:extLst>
              </a:tr>
              <a:tr h="816902"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3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1.333333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1.400000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-0.222222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-0.040000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1.414634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0.014634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2076198763"/>
                  </a:ext>
                </a:extLst>
              </a:tr>
              <a:tr h="816902"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4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1.400000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1.414634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-0.040000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0.001190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>
                          <a:effectLst/>
                        </a:rPr>
                        <a:t>1.414211</a:t>
                      </a:r>
                      <a:endParaRPr lang="en-UG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000" dirty="0">
                          <a:effectLst/>
                        </a:rPr>
                        <a:t>0.000423</a:t>
                      </a:r>
                      <a:endParaRPr lang="en-UG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94352982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75F487FF-C98F-4975-A626-2DA1C528D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74" y="732476"/>
            <a:ext cx="80295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Example 2: f(x) = x² - 2, x₀ = 1, x₁ = 2.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After 4 iterations x ≈ 1.414211, close to √2 = 1.414214.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503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73D8DD7-97E3-4FAB-BC18-7383CFA56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00181"/>
            <a:ext cx="11415713" cy="1474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65048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600" b="0" i="0" u="none" strike="noStrike" cap="none" normalizeH="0" baseline="0" dirty="0">
                <a:ln>
                  <a:noFill/>
                </a:ln>
                <a:solidFill>
                  <a:srgbClr val="2E74B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Runge-</a:t>
            </a:r>
            <a:r>
              <a:rPr kumimoji="0" lang="en-US" altLang="en-UG" sz="1600" b="0" i="0" u="none" strike="noStrike" cap="none" normalizeH="0" baseline="0" dirty="0" err="1">
                <a:ln>
                  <a:noFill/>
                </a:ln>
                <a:solidFill>
                  <a:srgbClr val="2E74B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Kutta</a:t>
            </a:r>
            <a:r>
              <a:rPr kumimoji="0" lang="en-US" altLang="en-UG" sz="1600" b="0" i="0" u="none" strike="noStrike" cap="none" normalizeH="0" baseline="0" dirty="0">
                <a:ln>
                  <a:noFill/>
                </a:ln>
                <a:solidFill>
                  <a:srgbClr val="2E74B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Method (4th Order)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600" b="0" i="0" u="none" strike="noStrike" cap="none" normalizeH="0" baseline="0" dirty="0">
                <a:ln>
                  <a:noFill/>
                </a:ln>
                <a:solidFill>
                  <a:srgbClr val="2E74B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Solve the ordinary differential equation </a:t>
            </a:r>
            <a:r>
              <a:rPr kumimoji="0" lang="en-US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dy</a:t>
            </a:r>
            <a:r>
              <a:rPr kumimoji="0" lang="en-US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/dx = x + y, with initial condition y(0) = 1, using the fourth-order Runge-</a:t>
            </a:r>
            <a:r>
              <a:rPr kumimoji="0" lang="en-US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Kutta</a:t>
            </a:r>
            <a:r>
              <a:rPr kumimoji="0" lang="en-US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method with step size h = 0.1, to find y at x = 0.4.</a:t>
            </a:r>
            <a:endParaRPr kumimoji="0" lang="en-US" altLang="en-U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Box 43">
            <a:extLst>
              <a:ext uri="{FF2B5EF4-FFF2-40B4-BE49-F238E27FC236}">
                <a16:creationId xmlns:a16="http://schemas.microsoft.com/office/drawing/2014/main" id="{860D9D05-992B-4E1F-AC1F-D91CE02FF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1593332"/>
            <a:ext cx="9886950" cy="341632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k1 = h f(x, y)</a:t>
            </a:r>
            <a:endParaRPr kumimoji="0" lang="en-UG" altLang="en-UG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k2 = h f(x + h/2, y + k1/2)</a:t>
            </a:r>
            <a:endParaRPr kumimoji="0" lang="en-UG" altLang="en-UG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k3 = h f(x + h/2, y + k2/2)</a:t>
            </a:r>
            <a:endParaRPr kumimoji="0" lang="en-UG" altLang="en-UG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k4 = h f(x + h, y + k3)</a:t>
            </a:r>
            <a:endParaRPr kumimoji="0" lang="en-UG" altLang="en-UG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y(new) = y + (k1 + 2k2 + 2k3 + k4)/6</a:t>
            </a:r>
            <a:endParaRPr kumimoji="0" lang="en-UG" altLang="en-UG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x(new) = x + h</a:t>
            </a:r>
            <a:endParaRPr kumimoji="0" lang="en-UG" altLang="en-UG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15F02E-3320-46FE-B054-172373BDD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65048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300" b="0" i="0" u="none" strike="noStrike" cap="none" normalizeH="0" baseline="0">
              <a:ln>
                <a:noFill/>
              </a:ln>
              <a:solidFill>
                <a:srgbClr val="2E74B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88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6F4880-65A1-4FE2-BC08-293C752662DF}"/>
              </a:ext>
            </a:extLst>
          </p:cNvPr>
          <p:cNvSpPr txBox="1"/>
          <p:nvPr/>
        </p:nvSpPr>
        <p:spPr>
          <a:xfrm>
            <a:off x="728663" y="414339"/>
            <a:ext cx="9858375" cy="4696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spcAft>
                <a:spcPts val="600"/>
              </a:spcAft>
            </a:pPr>
            <a:r>
              <a:rPr lang="en-UG" sz="36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Pseudocode</a:t>
            </a: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Start</a:t>
            </a:r>
            <a:endParaRPr lang="en-UG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Read f(</a:t>
            </a:r>
            <a:r>
              <a:rPr lang="en-UG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x,y</a:t>
            </a:r>
            <a:r>
              <a:rPr lang="en-UG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), initial values x0 and y0, step size h, and final value </a:t>
            </a:r>
            <a:r>
              <a:rPr lang="en-UG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xn</a:t>
            </a:r>
            <a:endParaRPr lang="en-UG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Compute number of steps n = (</a:t>
            </a:r>
            <a:r>
              <a:rPr lang="en-UG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xn</a:t>
            </a:r>
            <a:r>
              <a:rPr lang="en-UG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- x0)/h</a:t>
            </a:r>
            <a:endParaRPr lang="en-UG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Repeat n times: compute k1, k2, k3, k4 using the formulas above</a:t>
            </a:r>
            <a:endParaRPr lang="en-UG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Update y = y + (k1 + 2k2 + 2k3 + k4)/6 and x = x + h</a:t>
            </a:r>
            <a:endParaRPr lang="en-UG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Display the current x and y</a:t>
            </a:r>
            <a:endParaRPr lang="en-UG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400"/>
              </a:spcAft>
              <a:buFont typeface="+mj-lt"/>
              <a:buAutoNum type="arabicPeriod"/>
            </a:pPr>
            <a:r>
              <a:rPr lang="en-UG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Repeat step 4 until x reaches </a:t>
            </a:r>
            <a:r>
              <a:rPr lang="en-UG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xn</a:t>
            </a:r>
            <a:endParaRPr lang="en-UG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1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G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Stop</a:t>
            </a:r>
            <a:r>
              <a:rPr lang="en-UG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4.3 Flowchart</a:t>
            </a:r>
          </a:p>
        </p:txBody>
      </p:sp>
    </p:spTree>
    <p:extLst>
      <p:ext uri="{BB962C8B-B14F-4D97-AF65-F5344CB8AC3E}">
        <p14:creationId xmlns:p14="http://schemas.microsoft.com/office/powerpoint/2010/main" val="896544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038C-F4F4-43E5-91C8-FB874F81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61E90-DDD5-4423-90AA-64380D785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 dirty="0"/>
          </a:p>
        </p:txBody>
      </p:sp>
      <p:sp>
        <p:nvSpPr>
          <p:cNvPr id="4" name="Rectangle 22">
            <a:extLst>
              <a:ext uri="{FF2B5EF4-FFF2-40B4-BE49-F238E27FC236}">
                <a16:creationId xmlns:a16="http://schemas.microsoft.com/office/drawing/2014/main" id="{99215238-EF0C-4C9C-A262-A33F7E723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grpSp>
        <p:nvGrpSpPr>
          <p:cNvPr id="5" name="Flowchart 902">
            <a:extLst>
              <a:ext uri="{FF2B5EF4-FFF2-40B4-BE49-F238E27FC236}">
                <a16:creationId xmlns:a16="http://schemas.microsoft.com/office/drawing/2014/main" id="{99664EF8-DCCD-4EDA-800B-AA69BF9AD7B0}"/>
              </a:ext>
            </a:extLst>
          </p:cNvPr>
          <p:cNvGrpSpPr>
            <a:grpSpLocks/>
          </p:cNvGrpSpPr>
          <p:nvPr/>
        </p:nvGrpSpPr>
        <p:grpSpPr bwMode="auto">
          <a:xfrm>
            <a:off x="2400300" y="2055811"/>
            <a:ext cx="6972300" cy="4121151"/>
            <a:chOff x="0" y="0"/>
            <a:chExt cx="48554" cy="45591"/>
          </a:xfrm>
        </p:grpSpPr>
        <p:sp>
          <p:nvSpPr>
            <p:cNvPr id="6" name="Shape 101">
              <a:extLst>
                <a:ext uri="{FF2B5EF4-FFF2-40B4-BE49-F238E27FC236}">
                  <a16:creationId xmlns:a16="http://schemas.microsoft.com/office/drawing/2014/main" id="{92C37AD1-6902-4645-85B7-DB4017A2C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8" y="411"/>
              <a:ext cx="16459" cy="3292"/>
            </a:xfrm>
            <a:prstGeom prst="flowChartTerminator">
              <a:avLst/>
            </a:prstGeom>
            <a:solidFill>
              <a:srgbClr val="DCE9F5"/>
            </a:solidFill>
            <a:ln w="19050">
              <a:solidFill>
                <a:srgbClr val="2E5C8A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Start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Shape 102">
              <a:extLst>
                <a:ext uri="{FF2B5EF4-FFF2-40B4-BE49-F238E27FC236}">
                  <a16:creationId xmlns:a16="http://schemas.microsoft.com/office/drawing/2014/main" id="{E2AA1416-5994-4827-8510-9B7BAB662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32" y="4937"/>
              <a:ext cx="36211" cy="4115"/>
            </a:xfrm>
            <a:prstGeom prst="flowChartProcess">
              <a:avLst/>
            </a:prstGeom>
            <a:solidFill>
              <a:srgbClr val="DCE9F5"/>
            </a:solidFill>
            <a:ln w="19050">
              <a:solidFill>
                <a:srgbClr val="2E5C8A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Input: f(x,y), x0, y0, step size h, final value xn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Shape 103">
              <a:extLst>
                <a:ext uri="{FF2B5EF4-FFF2-40B4-BE49-F238E27FC236}">
                  <a16:creationId xmlns:a16="http://schemas.microsoft.com/office/drawing/2014/main" id="{F494D13B-B6BF-48F8-A0FF-43A3F3C21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3" y="10287"/>
              <a:ext cx="24689" cy="3127"/>
            </a:xfrm>
            <a:prstGeom prst="flowChartProcess">
              <a:avLst/>
            </a:prstGeom>
            <a:solidFill>
              <a:srgbClr val="DCE9F5"/>
            </a:solidFill>
            <a:ln w="19050">
              <a:solidFill>
                <a:srgbClr val="2E5C8A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n = (xn - x0)/h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Shape 104">
              <a:extLst>
                <a:ext uri="{FF2B5EF4-FFF2-40B4-BE49-F238E27FC236}">
                  <a16:creationId xmlns:a16="http://schemas.microsoft.com/office/drawing/2014/main" id="{9E6E281C-9B07-4AF2-A9EC-9CFCC5BA7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32" y="14648"/>
              <a:ext cx="36211" cy="8230"/>
            </a:xfrm>
            <a:prstGeom prst="flowChartProcess">
              <a:avLst/>
            </a:prstGeom>
            <a:solidFill>
              <a:srgbClr val="DFF0DF"/>
            </a:solidFill>
            <a:ln w="19050">
              <a:solidFill>
                <a:srgbClr val="3A7D44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Compute:</a:t>
              </a:r>
              <a:endParaRPr kumimoji="0" lang="en-UG" altLang="en-U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k1 = h f(</a:t>
              </a:r>
              <a:r>
                <a:rPr kumimoji="0" lang="en-UG" altLang="en-UG" sz="9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x,y</a:t>
              </a:r>
              <a:r>
                <a:rPr kumimoji="0" lang="en-UG" altLang="en-UG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)</a:t>
              </a:r>
              <a:endParaRPr kumimoji="0" lang="en-UG" altLang="en-U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k2 = h f(</a:t>
              </a:r>
              <a:r>
                <a:rPr kumimoji="0" lang="en-UG" altLang="en-UG" sz="9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x+h</a:t>
              </a:r>
              <a:r>
                <a:rPr kumimoji="0" lang="en-UG" altLang="en-UG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/2, y+k1/2)</a:t>
              </a:r>
              <a:endParaRPr kumimoji="0" lang="en-UG" altLang="en-U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k3 = h f(</a:t>
              </a:r>
              <a:r>
                <a:rPr kumimoji="0" lang="en-UG" altLang="en-UG" sz="9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x+h</a:t>
              </a:r>
              <a:r>
                <a:rPr kumimoji="0" lang="en-UG" altLang="en-UG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/2, y+k2/2)</a:t>
              </a:r>
              <a:endParaRPr kumimoji="0" lang="en-UG" altLang="en-U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k4 = h f(</a:t>
              </a:r>
              <a:r>
                <a:rPr kumimoji="0" lang="en-UG" altLang="en-UG" sz="9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x+h</a:t>
              </a:r>
              <a:r>
                <a:rPr kumimoji="0" lang="en-UG" altLang="en-UG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, y+k3)</a:t>
              </a:r>
              <a:endParaRPr kumimoji="0" lang="en-UG" altLang="en-U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Shape 105">
              <a:extLst>
                <a:ext uri="{FF2B5EF4-FFF2-40B4-BE49-F238E27FC236}">
                  <a16:creationId xmlns:a16="http://schemas.microsoft.com/office/drawing/2014/main" id="{985F2BE8-916B-4343-9427-26C0C1AA1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32" y="24112"/>
              <a:ext cx="36211" cy="3950"/>
            </a:xfrm>
            <a:prstGeom prst="flowChartProcess">
              <a:avLst/>
            </a:prstGeom>
            <a:solidFill>
              <a:srgbClr val="DFF0DF"/>
            </a:solidFill>
            <a:ln w="19050">
              <a:solidFill>
                <a:srgbClr val="3A7D44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y = y + (k1+2k2+2k3+k4)/6 ;  x = x + h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Shape 106">
              <a:extLst>
                <a:ext uri="{FF2B5EF4-FFF2-40B4-BE49-F238E27FC236}">
                  <a16:creationId xmlns:a16="http://schemas.microsoft.com/office/drawing/2014/main" id="{79D261FD-2718-400E-BC9A-681272E20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3" y="29297"/>
              <a:ext cx="24689" cy="6172"/>
            </a:xfrm>
            <a:prstGeom prst="flowChartDecision">
              <a:avLst/>
            </a:prstGeom>
            <a:solidFill>
              <a:srgbClr val="FCE9D4"/>
            </a:solidFill>
            <a:ln w="19050">
              <a:solidFill>
                <a:srgbClr val="C8720A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Is x &lt; xn ?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Shape 107">
              <a:extLst>
                <a:ext uri="{FF2B5EF4-FFF2-40B4-BE49-F238E27FC236}">
                  <a16:creationId xmlns:a16="http://schemas.microsoft.com/office/drawing/2014/main" id="{B2E108A5-19D1-4870-9B65-558A681B8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3" y="36704"/>
              <a:ext cx="24689" cy="3950"/>
            </a:xfrm>
            <a:prstGeom prst="flowChartProcess">
              <a:avLst/>
            </a:prstGeom>
            <a:solidFill>
              <a:srgbClr val="DCE9F5"/>
            </a:solidFill>
            <a:ln w="19050">
              <a:solidFill>
                <a:srgbClr val="2E5C8A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Display x and y at each step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Shape 108">
              <a:extLst>
                <a:ext uri="{FF2B5EF4-FFF2-40B4-BE49-F238E27FC236}">
                  <a16:creationId xmlns:a16="http://schemas.microsoft.com/office/drawing/2014/main" id="{FDFFDF68-FC6C-409D-A687-A7CFA8C11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8" y="41888"/>
              <a:ext cx="16459" cy="3292"/>
            </a:xfrm>
            <a:prstGeom prst="flowChartTerminator">
              <a:avLst/>
            </a:prstGeom>
            <a:solidFill>
              <a:srgbClr val="DCE9F5"/>
            </a:solidFill>
            <a:ln w="19050">
              <a:solidFill>
                <a:srgbClr val="2E5C8A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Stop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Line 109">
              <a:extLst>
                <a:ext uri="{FF2B5EF4-FFF2-40B4-BE49-F238E27FC236}">
                  <a16:creationId xmlns:a16="http://schemas.microsoft.com/office/drawing/2014/main" id="{6FFBEA04-31A7-4A8E-BC32-302FD9905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38" y="3703"/>
              <a:ext cx="0" cy="1234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15" name="Line 110">
              <a:extLst>
                <a:ext uri="{FF2B5EF4-FFF2-40B4-BE49-F238E27FC236}">
                  <a16:creationId xmlns:a16="http://schemas.microsoft.com/office/drawing/2014/main" id="{D76DCE24-CDE1-4F75-A51E-ADBFE7847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38" y="9052"/>
              <a:ext cx="0" cy="1235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16" name="Line 111">
              <a:extLst>
                <a:ext uri="{FF2B5EF4-FFF2-40B4-BE49-F238E27FC236}">
                  <a16:creationId xmlns:a16="http://schemas.microsoft.com/office/drawing/2014/main" id="{D3A30180-A067-4BCB-A44D-08282A7B2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38" y="13414"/>
              <a:ext cx="0" cy="1234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17" name="Line 112">
              <a:extLst>
                <a:ext uri="{FF2B5EF4-FFF2-40B4-BE49-F238E27FC236}">
                  <a16:creationId xmlns:a16="http://schemas.microsoft.com/office/drawing/2014/main" id="{9B522239-BE89-40AA-8EE0-038B01C75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38" y="22878"/>
              <a:ext cx="0" cy="1234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18" name="Line 113">
              <a:extLst>
                <a:ext uri="{FF2B5EF4-FFF2-40B4-BE49-F238E27FC236}">
                  <a16:creationId xmlns:a16="http://schemas.microsoft.com/office/drawing/2014/main" id="{54F485F5-C331-4BDF-8DCE-FC69112B1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38" y="28062"/>
              <a:ext cx="0" cy="1235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19" name="Line 114">
              <a:extLst>
                <a:ext uri="{FF2B5EF4-FFF2-40B4-BE49-F238E27FC236}">
                  <a16:creationId xmlns:a16="http://schemas.microsoft.com/office/drawing/2014/main" id="{F5F2A9D0-50D0-4C17-92F3-E1D11E6F6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38" y="35469"/>
              <a:ext cx="0" cy="1235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20" name="Line 115">
              <a:extLst>
                <a:ext uri="{FF2B5EF4-FFF2-40B4-BE49-F238E27FC236}">
                  <a16:creationId xmlns:a16="http://schemas.microsoft.com/office/drawing/2014/main" id="{214C6B3C-0995-4847-85E9-EC2A25C8E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38" y="40654"/>
              <a:ext cx="0" cy="1234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21" name="Label 116">
              <a:extLst>
                <a:ext uri="{FF2B5EF4-FFF2-40B4-BE49-F238E27FC236}">
                  <a16:creationId xmlns:a16="http://schemas.microsoft.com/office/drawing/2014/main" id="{CF86894D-2D1E-4FE3-9C5E-6B74B4C07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61" y="34975"/>
              <a:ext cx="4114" cy="20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No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Label 117">
              <a:extLst>
                <a:ext uri="{FF2B5EF4-FFF2-40B4-BE49-F238E27FC236}">
                  <a16:creationId xmlns:a16="http://schemas.microsoft.com/office/drawing/2014/main" id="{112993FE-226B-4E78-B4CC-727566651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1" y="30038"/>
              <a:ext cx="4114" cy="2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G" altLang="en-UG" sz="9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Yes</a:t>
              </a:r>
              <a:endPara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Line 118">
              <a:extLst>
                <a:ext uri="{FF2B5EF4-FFF2-40B4-BE49-F238E27FC236}">
                  <a16:creationId xmlns:a16="http://schemas.microsoft.com/office/drawing/2014/main" id="{C935B603-01DB-4FF9-905E-8D3C47C86D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" y="32383"/>
              <a:ext cx="17282" cy="0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24" name="Line 119">
              <a:extLst>
                <a:ext uri="{FF2B5EF4-FFF2-40B4-BE49-F238E27FC236}">
                  <a16:creationId xmlns:a16="http://schemas.microsoft.com/office/drawing/2014/main" id="{FCEF3B04-5EC6-4BCA-AE91-B951542E60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" y="18763"/>
              <a:ext cx="0" cy="13620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  <p:sp>
          <p:nvSpPr>
            <p:cNvPr id="25" name="Line 120">
              <a:extLst>
                <a:ext uri="{FF2B5EF4-FFF2-40B4-BE49-F238E27FC236}">
                  <a16:creationId xmlns:a16="http://schemas.microsoft.com/office/drawing/2014/main" id="{391B0F59-62EC-46C0-A0A2-9BA45E78D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" y="18763"/>
              <a:ext cx="11521" cy="0"/>
            </a:xfrm>
            <a:prstGeom prst="line">
              <a:avLst/>
            </a:prstGeom>
            <a:noFill/>
            <a:ln w="19050">
              <a:solidFill>
                <a:srgbClr val="55555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G"/>
            </a:p>
          </p:txBody>
        </p:sp>
      </p:grpSp>
    </p:spTree>
    <p:extLst>
      <p:ext uri="{BB962C8B-B14F-4D97-AF65-F5344CB8AC3E}">
        <p14:creationId xmlns:p14="http://schemas.microsoft.com/office/powerpoint/2010/main" val="3408814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AC70D1F-80D3-49FB-852F-FBAB7620B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65048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300" b="0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MATLAB Code - "for" loop 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C9341193-029B-4D42-8F96-D30CBA0E1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9" y="733425"/>
            <a:ext cx="5014911" cy="5238749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onsolas" panose="020B0609020204030204" pitchFamily="49" charset="0"/>
                <a:cs typeface="Consolas" panose="020B0609020204030204" pitchFamily="49" charset="0"/>
              </a:rPr>
              <a:t>clc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onsolas" panose="020B0609020204030204" pitchFamily="49" charset="0"/>
                <a:cs typeface="Consolas" panose="020B0609020204030204" pitchFamily="49" charset="0"/>
              </a:rPr>
              <a:t>; clear;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 = @(x,y) x + y;       %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/dx = f(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x0 = 0; y0 = 1;         % initial condition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h  = 0.1;               % step size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xn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= 0.4;               % point at which y is required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n  = (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xn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- x0)/h;       % number of steps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 = x0; y = y0;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= 1:n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k1 = h*f(x, y);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k2 = h*f(x + h/2, y + k1/2);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k3 = h*f(x + h/2, y + k2/2);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k4 = h*f(x + h, y + k3);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y = y + (k1 + 2*k2 + 2*k3 + k4)/6;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x = x + h;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('x = %.2f, y = %.6f\n', x, y);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end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('y(%.2f) = %.6f\n',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xn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, y);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C53DE3-8DCC-44A0-AB8A-5FE644D3F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kumimoji="0" lang="en-US" altLang="en-UG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Where n = (xn - x0)/h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DFECB9-21B0-4B53-88CA-D1F3D2646A5C}"/>
              </a:ext>
            </a:extLst>
          </p:cNvPr>
          <p:cNvSpPr txBox="1"/>
          <p:nvPr/>
        </p:nvSpPr>
        <p:spPr>
          <a:xfrm>
            <a:off x="6672261" y="733424"/>
            <a:ext cx="3957639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Sample Output: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 = 0.10, y = 1.110342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 = 0.20, y = 1.242805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 = 0.30, y = 1.399717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 = 0.40, y = 1.583648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y(0.40) = 1.583648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2477A0-709D-47AA-85C1-C46DCBD2924F}"/>
              </a:ext>
            </a:extLst>
          </p:cNvPr>
          <p:cNvCxnSpPr>
            <a:cxnSpLocks/>
          </p:cNvCxnSpPr>
          <p:nvPr/>
        </p:nvCxnSpPr>
        <p:spPr>
          <a:xfrm>
            <a:off x="6096000" y="557213"/>
            <a:ext cx="0" cy="5414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023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30AA81B-5753-4979-AE55-3178017EC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65048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300" b="0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MATLAB Code - "while" loop version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44E711BD-E473-4453-90EF-17B6D7FEC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49" y="441325"/>
            <a:ext cx="5810251" cy="5016758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onsolas" panose="020B0609020204030204" pitchFamily="49" charset="0"/>
                <a:cs typeface="Consolas" panose="020B0609020204030204" pitchFamily="49" charset="0"/>
              </a:rPr>
              <a:t>clc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onsolas" panose="020B0609020204030204" pitchFamily="49" charset="0"/>
                <a:cs typeface="Consolas" panose="020B0609020204030204" pitchFamily="49" charset="0"/>
              </a:rPr>
              <a:t>; clear;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 = @(x,y) x + y;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x0 = 0; y0 = 1;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h  = 0.1;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xn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= 0.4;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 = x0; y = y0;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while x &lt;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xn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- 1e-10        % small tolerance avoids floating-point issues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k1 = h*f(x, y);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k2 = h*f(x + h/2, y + k1/2);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k3 = h*f(x + h/2, y + k2/2);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k4 = h*f(x + h, y + k3);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y = y + (k1 + 2*k2 + 2*k3 + k4)/6;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x = x + h;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('x = %.2f, y = %.6f\n', x, y);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end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('y(%.2f) = %.6f\n',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xn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, y);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1698A9-C380-4CF7-AB2D-CDCC127C0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100" b="0" i="0" u="none" strike="noStrike" cap="none" normalizeH="0" baseline="0">
              <a:ln>
                <a:noFill/>
              </a:ln>
              <a:solidFill>
                <a:srgbClr val="2E74B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100" b="0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G" altLang="en-UG" sz="1300" b="0" i="0" u="none" strike="noStrike" cap="none" normalizeH="0" baseline="0">
              <a:ln>
                <a:noFill/>
              </a:ln>
              <a:solidFill>
                <a:srgbClr val="2E74B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006FC-8476-4258-9494-5503C901184B}"/>
              </a:ext>
            </a:extLst>
          </p:cNvPr>
          <p:cNvSpPr txBox="1"/>
          <p:nvPr/>
        </p:nvSpPr>
        <p:spPr>
          <a:xfrm>
            <a:off x="8029575" y="441325"/>
            <a:ext cx="3643313" cy="2082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Sample Output: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 = 0.10, y = 1.110342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 = 0.20, y = 1.242805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 = 0.30, y = 1.399717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 = 0.40, y = 1.583648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y(0.40) = 1.583648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3E4CB9-0052-4135-93F2-2746996A047C}"/>
              </a:ext>
            </a:extLst>
          </p:cNvPr>
          <p:cNvCxnSpPr>
            <a:cxnSpLocks/>
          </p:cNvCxnSpPr>
          <p:nvPr/>
        </p:nvCxnSpPr>
        <p:spPr>
          <a:xfrm>
            <a:off x="7072313" y="457200"/>
            <a:ext cx="0" cy="5000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362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DC6BBC-AE3A-4C24-9330-FEE0B396FA0E}"/>
              </a:ext>
            </a:extLst>
          </p:cNvPr>
          <p:cNvSpPr txBox="1"/>
          <p:nvPr/>
        </p:nvSpPr>
        <p:spPr>
          <a:xfrm>
            <a:off x="428625" y="228600"/>
            <a:ext cx="9186863" cy="5050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More</a:t>
            </a:r>
            <a:r>
              <a:rPr lang="en-UG" sz="3200" b="1" dirty="0">
                <a:solidFill>
                  <a:srgbClr val="2E74B5"/>
                </a:solidFill>
                <a:effectLst/>
                <a:latin typeface="Times New Roman" panose="02020603050405020304" pitchFamily="18" charset="0"/>
              </a:rPr>
              <a:t> Examples 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Example 1: </a:t>
            </a:r>
            <a:r>
              <a:rPr lang="en-UG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dy</a:t>
            </a: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/dx = x + y, y(0) = 1, h = 0.1.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S(x = 0, y = 1):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k1 = 0.1 (0 + 1)            = 0.100000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k2 = 0.1 (0.05 + 1.05)      = 0.110000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k3 = 0.1 (0.05 + 1.055)     = 0.110500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k4 = 0.1 (0.1 + 1.1105)     = 0.121050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y1 = 1 + (0.1 + 2(0.11) + 2(0.1105) + 0.12105)/6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1 + 0.66205/6 = 1.110342     at x = 0.1</a:t>
            </a:r>
            <a:endParaRPr lang="en-U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488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3076A0-3F32-4D11-9357-83F31B7EC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834608"/>
              </p:ext>
            </p:extLst>
          </p:nvPr>
        </p:nvGraphicFramePr>
        <p:xfrm>
          <a:off x="942975" y="1585914"/>
          <a:ext cx="10358432" cy="34432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4804">
                  <a:extLst>
                    <a:ext uri="{9D8B030D-6E8A-4147-A177-3AD203B41FA5}">
                      <a16:colId xmlns:a16="http://schemas.microsoft.com/office/drawing/2014/main" val="1811483920"/>
                    </a:ext>
                  </a:extLst>
                </a:gridCol>
                <a:gridCol w="1294804">
                  <a:extLst>
                    <a:ext uri="{9D8B030D-6E8A-4147-A177-3AD203B41FA5}">
                      <a16:colId xmlns:a16="http://schemas.microsoft.com/office/drawing/2014/main" val="3343179981"/>
                    </a:ext>
                  </a:extLst>
                </a:gridCol>
                <a:gridCol w="1294804">
                  <a:extLst>
                    <a:ext uri="{9D8B030D-6E8A-4147-A177-3AD203B41FA5}">
                      <a16:colId xmlns:a16="http://schemas.microsoft.com/office/drawing/2014/main" val="44914550"/>
                    </a:ext>
                  </a:extLst>
                </a:gridCol>
                <a:gridCol w="1294804">
                  <a:extLst>
                    <a:ext uri="{9D8B030D-6E8A-4147-A177-3AD203B41FA5}">
                      <a16:colId xmlns:a16="http://schemas.microsoft.com/office/drawing/2014/main" val="1566359168"/>
                    </a:ext>
                  </a:extLst>
                </a:gridCol>
                <a:gridCol w="1294804">
                  <a:extLst>
                    <a:ext uri="{9D8B030D-6E8A-4147-A177-3AD203B41FA5}">
                      <a16:colId xmlns:a16="http://schemas.microsoft.com/office/drawing/2014/main" val="2509651495"/>
                    </a:ext>
                  </a:extLst>
                </a:gridCol>
                <a:gridCol w="1294804">
                  <a:extLst>
                    <a:ext uri="{9D8B030D-6E8A-4147-A177-3AD203B41FA5}">
                      <a16:colId xmlns:a16="http://schemas.microsoft.com/office/drawing/2014/main" val="1664129624"/>
                    </a:ext>
                  </a:extLst>
                </a:gridCol>
                <a:gridCol w="1294804">
                  <a:extLst>
                    <a:ext uri="{9D8B030D-6E8A-4147-A177-3AD203B41FA5}">
                      <a16:colId xmlns:a16="http://schemas.microsoft.com/office/drawing/2014/main" val="1380059005"/>
                    </a:ext>
                  </a:extLst>
                </a:gridCol>
                <a:gridCol w="1294804">
                  <a:extLst>
                    <a:ext uri="{9D8B030D-6E8A-4147-A177-3AD203B41FA5}">
                      <a16:colId xmlns:a16="http://schemas.microsoft.com/office/drawing/2014/main" val="3689844400"/>
                    </a:ext>
                  </a:extLst>
                </a:gridCol>
              </a:tblGrid>
              <a:tr h="68154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Step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x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y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k1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k2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k3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k4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y(new)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4232486608"/>
                  </a:ext>
                </a:extLst>
              </a:tr>
              <a:tr h="620965"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1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0.0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1.000000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0.100000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0.110000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0.110500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0.121050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1.110342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2803215150"/>
                  </a:ext>
                </a:extLst>
              </a:tr>
              <a:tr h="620965"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2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1.110342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0.121034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0.132086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0.132638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0.144298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1.242805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1736323950"/>
                  </a:ext>
                </a:extLst>
              </a:tr>
              <a:tr h="620965"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0.2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1.242805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0.144281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0.156495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0.157105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0.169991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1.399717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2068226810"/>
                  </a:ext>
                </a:extLst>
              </a:tr>
              <a:tr h="898843"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4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0.3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1.399717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0.169972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0.183470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>
                          <a:effectLst/>
                        </a:rPr>
                        <a:t>0.184145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0.198386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1800" dirty="0">
                          <a:effectLst/>
                        </a:rPr>
                        <a:t>1.583648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292111104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3889C93-5AB6-4900-976B-89382BD6F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8" y="674976"/>
            <a:ext cx="79009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Example 1:</a:t>
            </a:r>
            <a:endParaRPr kumimoji="0" lang="en-UG" altLang="en-U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Check: the exact solution is y = 2e^x - x - 1, so y(0.4) = 1.583649. RK4 gave 1.583648, an error of about 0.000001.</a:t>
            </a:r>
            <a:endParaRPr kumimoji="0" lang="en-UG" altLang="en-U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3FB5-22E1-41CE-8D7E-BA15BA08BD8F}"/>
              </a:ext>
            </a:extLst>
          </p:cNvPr>
          <p:cNvSpPr txBox="1"/>
          <p:nvPr/>
        </p:nvSpPr>
        <p:spPr>
          <a:xfrm>
            <a:off x="719474" y="5222786"/>
            <a:ext cx="10358432" cy="757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G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Check: the exact solution is y = 2e^x - x - 1, so y(0.4) = 1.583649. RK4 gave 1.583648, an error of about 0.000001.</a:t>
            </a:r>
            <a:endParaRPr lang="en-U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355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1F3353-059A-4155-9249-F613B3240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930571"/>
              </p:ext>
            </p:extLst>
          </p:nvPr>
        </p:nvGraphicFramePr>
        <p:xfrm>
          <a:off x="600074" y="1614488"/>
          <a:ext cx="10372725" cy="44576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1651">
                  <a:extLst>
                    <a:ext uri="{9D8B030D-6E8A-4147-A177-3AD203B41FA5}">
                      <a16:colId xmlns:a16="http://schemas.microsoft.com/office/drawing/2014/main" val="2500924501"/>
                    </a:ext>
                  </a:extLst>
                </a:gridCol>
                <a:gridCol w="1967990">
                  <a:extLst>
                    <a:ext uri="{9D8B030D-6E8A-4147-A177-3AD203B41FA5}">
                      <a16:colId xmlns:a16="http://schemas.microsoft.com/office/drawing/2014/main" val="2066544230"/>
                    </a:ext>
                  </a:extLst>
                </a:gridCol>
                <a:gridCol w="1105514">
                  <a:extLst>
                    <a:ext uri="{9D8B030D-6E8A-4147-A177-3AD203B41FA5}">
                      <a16:colId xmlns:a16="http://schemas.microsoft.com/office/drawing/2014/main" val="4069969851"/>
                    </a:ext>
                  </a:extLst>
                </a:gridCol>
                <a:gridCol w="1105514">
                  <a:extLst>
                    <a:ext uri="{9D8B030D-6E8A-4147-A177-3AD203B41FA5}">
                      <a16:colId xmlns:a16="http://schemas.microsoft.com/office/drawing/2014/main" val="3637316379"/>
                    </a:ext>
                  </a:extLst>
                </a:gridCol>
                <a:gridCol w="1105514">
                  <a:extLst>
                    <a:ext uri="{9D8B030D-6E8A-4147-A177-3AD203B41FA5}">
                      <a16:colId xmlns:a16="http://schemas.microsoft.com/office/drawing/2014/main" val="2244639024"/>
                    </a:ext>
                  </a:extLst>
                </a:gridCol>
                <a:gridCol w="1105514">
                  <a:extLst>
                    <a:ext uri="{9D8B030D-6E8A-4147-A177-3AD203B41FA5}">
                      <a16:colId xmlns:a16="http://schemas.microsoft.com/office/drawing/2014/main" val="1539372832"/>
                    </a:ext>
                  </a:extLst>
                </a:gridCol>
                <a:gridCol w="1105514">
                  <a:extLst>
                    <a:ext uri="{9D8B030D-6E8A-4147-A177-3AD203B41FA5}">
                      <a16:colId xmlns:a16="http://schemas.microsoft.com/office/drawing/2014/main" val="1498357251"/>
                    </a:ext>
                  </a:extLst>
                </a:gridCol>
                <a:gridCol w="1105514">
                  <a:extLst>
                    <a:ext uri="{9D8B030D-6E8A-4147-A177-3AD203B41FA5}">
                      <a16:colId xmlns:a16="http://schemas.microsoft.com/office/drawing/2014/main" val="857359952"/>
                    </a:ext>
                  </a:extLst>
                </a:gridCol>
              </a:tblGrid>
              <a:tr h="155501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Step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x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y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k1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k2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k3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k4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y(new)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94580970"/>
                  </a:ext>
                </a:extLst>
              </a:tr>
              <a:tr h="1451344"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1.000000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0.100000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0.105000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0.105250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0.110525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1.105171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4100215145"/>
                  </a:ext>
                </a:extLst>
              </a:tr>
              <a:tr h="1451344"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2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1.105171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0.110517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0.116043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0.116319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>
                          <a:effectLst/>
                        </a:rPr>
                        <a:t>0.122149</a:t>
                      </a:r>
                      <a:endParaRPr lang="en-UG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G" sz="900" dirty="0">
                          <a:effectLst/>
                        </a:rPr>
                        <a:t>1.221403</a:t>
                      </a:r>
                      <a:endParaRPr lang="en-UG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8100" marB="38100"/>
                </a:tc>
                <a:extLst>
                  <a:ext uri="{0D108BD9-81ED-4DB2-BD59-A6C34878D82A}">
                    <a16:rowId xmlns:a16="http://schemas.microsoft.com/office/drawing/2014/main" val="133167145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BA3D425-EFE2-402B-A447-DA55EF89C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4" y="623585"/>
            <a:ext cx="8848725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Example 2: </a:t>
            </a:r>
            <a:r>
              <a:rPr kumimoji="0" lang="en-UG" altLang="en-U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dy</a:t>
            </a:r>
            <a:r>
              <a:rPr kumimoji="0" lang="en-UG" altLang="en-U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/dx = y, y(0) = 1, h = 0.1, find y(0.2).</a:t>
            </a:r>
            <a:endParaRPr kumimoji="0" lang="en-UG" altLang="en-U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100" b="0" i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The exact value is e^0.2 = 1.221403, which matches the RK4 result 1.221403.</a:t>
            </a:r>
            <a:endParaRPr kumimoji="0" lang="en-UG" altLang="en-UG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256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2976</Words>
  <Application>Microsoft Office PowerPoint</Application>
  <PresentationFormat>Widescreen</PresentationFormat>
  <Paragraphs>548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Times New Roman</vt:lpstr>
      <vt:lpstr>Office Theme</vt:lpstr>
      <vt:lpstr>PowerPoint Presentation</vt:lpstr>
      <vt:lpstr>PowerPoint Presentation</vt:lpstr>
      <vt:lpstr>     Flowchart </vt:lpstr>
      <vt:lpstr>MATLAB Code - "while" loop version This version repeats the update step until the change between successive approximations is smaller than the tolerance. </vt:lpstr>
      <vt:lpstr>MATLAB Code - "for" loop version This version runs a fixed number of iterations, useful when the number of steps is decided in advance rather than by a tolerance check. </vt:lpstr>
      <vt:lpstr>PowerPoint Presentation</vt:lpstr>
      <vt:lpstr>PowerPoint Presentation</vt:lpstr>
      <vt:lpstr>PowerPoint Presentation</vt:lpstr>
      <vt:lpstr>PowerPoint Presentation</vt:lpstr>
      <vt:lpstr>FLOW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 CHART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17</cp:revision>
  <dcterms:created xsi:type="dcterms:W3CDTF">2026-09-28T15:04:37Z</dcterms:created>
  <dcterms:modified xsi:type="dcterms:W3CDTF">2026-09-29T05:50:14Z</dcterms:modified>
</cp:coreProperties>
</file>